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8.pn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34"/>
    <p:restoredTop sz="94118" autoAdjust="0"/>
  </p:normalViewPr>
  <p:slideViewPr>
    <p:cSldViewPr snapToGrid="0" snapToObjects="1">
      <p:cViewPr>
        <p:scale>
          <a:sx n="30" d="100"/>
          <a:sy n="30" d="100"/>
        </p:scale>
        <p:origin x="120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Duah" userId="6be56961e6a16d8a" providerId="LiveId" clId="{49512DCD-7794-4EDC-94DE-A43D079DDDEE}"/>
    <pc:docChg chg="modSld">
      <pc:chgData name="Daniel Duah" userId="6be56961e6a16d8a" providerId="LiveId" clId="{49512DCD-7794-4EDC-94DE-A43D079DDDEE}" dt="2026-04-29T23:39:10.833" v="0" actId="403"/>
      <pc:docMkLst>
        <pc:docMk/>
      </pc:docMkLst>
      <pc:sldChg chg="modSp mod">
        <pc:chgData name="Daniel Duah" userId="6be56961e6a16d8a" providerId="LiveId" clId="{49512DCD-7794-4EDC-94DE-A43D079DDDEE}" dt="2026-04-29T23:39:10.833" v="0" actId="403"/>
        <pc:sldMkLst>
          <pc:docMk/>
          <pc:sldMk cId="0" sldId="256"/>
        </pc:sldMkLst>
        <pc:spChg chg="mod">
          <ac:chgData name="Daniel Duah" userId="6be56961e6a16d8a" providerId="LiveId" clId="{49512DCD-7794-4EDC-94DE-A43D079DDDEE}" dt="2026-04-29T23:39:10.833" v="0" actId="403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E3336-8902-864C-9029-56087C94578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D3901-C8D7-744C-B3C6-1916248B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9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5D3901-C8D7-744C-B3C6-1916248BAE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89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0" cy="3291840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91440"/>
          </a:xfrm>
          <a:prstGeom prst="rect">
            <a:avLst/>
          </a:prstGeom>
          <a:solidFill>
            <a:srgbClr val="B88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43891200" cy="91440"/>
          </a:xfrm>
          <a:prstGeom prst="rect">
            <a:avLst/>
          </a:prstGeom>
          <a:solidFill>
            <a:srgbClr val="B88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57200"/>
            <a:ext cx="365760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i="0" dirty="0">
                <a:solidFill>
                  <a:srgbClr val="FFFFFF"/>
                </a:solidFill>
                <a:latin typeface="Cambria"/>
              </a:rPr>
              <a:t>INSPECTOR-TRIGGERED TICKET PURCHASE FRAUD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325326"/>
            <a:ext cx="3657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 dirty="0">
                <a:solidFill>
                  <a:srgbClr val="F6E5E8"/>
                </a:solidFill>
                <a:latin typeface="Cambria"/>
              </a:rPr>
              <a:t>Detecting Fare Evasion  Using Hidden Markov Models and Multi-Signal Anomaly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62563"/>
            <a:ext cx="3657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b="1" i="0" dirty="0">
                <a:solidFill>
                  <a:srgbClr val="FFFFFF"/>
                </a:solidFill>
                <a:latin typeface="Cambria"/>
              </a:rPr>
              <a:t>PRESENTED BY:  DANIEL DUAH  ·  BISMARK KOFI OWUSU SARFO  ·  SAI PRIYA MALYALA  ·  MARTIN THULANI MILANZI  ·  SAI KRISHNA VADDEBOINA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695" y="2454256"/>
            <a:ext cx="3657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 dirty="0">
                <a:solidFill>
                  <a:srgbClr val="F6E5E8"/>
                </a:solidFill>
                <a:latin typeface="Cambria"/>
              </a:rPr>
              <a:t>WPI Capstone Project  |  Fintech Team 2  |  Spring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1" y="3520440"/>
            <a:ext cx="43891200" cy="1828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3520440"/>
            <a:ext cx="43891200" cy="54864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-14224" y="5299573"/>
            <a:ext cx="44127527" cy="74693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73152" cy="1371600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" y="3703320"/>
            <a:ext cx="664768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8B1A2A"/>
                </a:solidFill>
                <a:latin typeface="Cambria"/>
              </a:rPr>
              <a:t>15,195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48056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16181F"/>
                </a:solidFill>
                <a:latin typeface="Cambria"/>
              </a:rPr>
              <a:t>novel riders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84632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1" dirty="0">
                <a:solidFill>
                  <a:srgbClr val="686F7A"/>
                </a:solidFill>
                <a:latin typeface="Cambria"/>
              </a:rPr>
              <a:t>20.5% novelty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3749039"/>
            <a:ext cx="73152" cy="1371600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9792" y="3703320"/>
            <a:ext cx="664768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1F3A5C"/>
                </a:solidFill>
                <a:latin typeface="Cambria"/>
              </a:rPr>
              <a:t>40,151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448056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16181F"/>
                </a:solidFill>
                <a:latin typeface="Cambria"/>
              </a:rPr>
              <a:t>HMM + Rules </a:t>
            </a:r>
            <a:r>
              <a:rPr sz="2400" b="1" i="0" dirty="0">
                <a:solidFill>
                  <a:srgbClr val="16181F"/>
                </a:solidFill>
                <a:latin typeface="Cambria"/>
              </a:rPr>
              <a:t>both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484632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1" dirty="0">
                <a:solidFill>
                  <a:srgbClr val="686F7A"/>
                </a:solidFill>
                <a:latin typeface="Cambria"/>
              </a:rPr>
              <a:t>confirmed evaders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209776" y="3749039"/>
            <a:ext cx="73152" cy="1371600"/>
          </a:xfrm>
          <a:prstGeom prst="rect">
            <a:avLst/>
          </a:prstGeom>
          <a:solidFill>
            <a:srgbClr val="C8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356080" y="3703320"/>
            <a:ext cx="664768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86B1F"/>
                </a:solidFill>
                <a:latin typeface="Cambria"/>
              </a:rPr>
              <a:t>18,601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0" y="448056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16181F"/>
                </a:solidFill>
                <a:latin typeface="Cambria"/>
              </a:rPr>
              <a:t>Rules</a:t>
            </a:r>
            <a:r>
              <a:rPr sz="1800" b="1" i="0" dirty="0">
                <a:solidFill>
                  <a:srgbClr val="16181F"/>
                </a:solidFill>
                <a:latin typeface="Cambria"/>
              </a:rPr>
              <a:t>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80" y="484632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 dirty="0">
                <a:solidFill>
                  <a:srgbClr val="686F7A"/>
                </a:solidFill>
                <a:latin typeface="Cambria"/>
              </a:rPr>
              <a:t>HMM </a:t>
            </a:r>
            <a:r>
              <a:rPr sz="2400" b="0" i="1" dirty="0">
                <a:solidFill>
                  <a:srgbClr val="686F7A"/>
                </a:solidFill>
                <a:latin typeface="Cambria"/>
              </a:rPr>
              <a:t>disagrees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86064" y="3749039"/>
            <a:ext cx="73152" cy="1371600"/>
          </a:xfrm>
          <a:prstGeom prst="rect">
            <a:avLst/>
          </a:prstGeom>
          <a:solidFill>
            <a:srgbClr val="2D6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232368" y="3703320"/>
            <a:ext cx="664768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2D6A7C"/>
                </a:solidFill>
                <a:latin typeface="Cambria"/>
              </a:rPr>
              <a:t>1,162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32368" y="448056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16181F"/>
                </a:solidFill>
                <a:latin typeface="Cambria"/>
              </a:rPr>
              <a:t>inspector-reactive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32368" y="4846320"/>
            <a:ext cx="6647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 dirty="0">
                <a:solidFill>
                  <a:srgbClr val="686F7A"/>
                </a:solidFill>
                <a:latin typeface="Cambria"/>
              </a:rPr>
              <a:t>C5 · gaming </a:t>
            </a:r>
            <a:r>
              <a:rPr sz="2400" b="0" i="1" dirty="0">
                <a:solidFill>
                  <a:srgbClr val="686F7A"/>
                </a:solidFill>
                <a:latin typeface="Cambria"/>
              </a:rPr>
              <a:t>1.639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962352" y="3749039"/>
            <a:ext cx="73152" cy="1371600"/>
          </a:xfrm>
          <a:prstGeom prst="rect">
            <a:avLst/>
          </a:prstGeom>
          <a:solidFill>
            <a:srgbClr val="B88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108656" y="3703320"/>
            <a:ext cx="664768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B88E1A"/>
                </a:solidFill>
                <a:latin typeface="Cambr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08656" y="4480560"/>
            <a:ext cx="6647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16181F"/>
                </a:solidFill>
                <a:latin typeface="Cambria"/>
              </a:rPr>
              <a:t>cluster archetypes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08656" y="4735044"/>
            <a:ext cx="52257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 dirty="0">
                <a:solidFill>
                  <a:srgbClr val="686F7A"/>
                </a:solidFill>
                <a:latin typeface="Cambria"/>
              </a:rPr>
              <a:t>K=6 (</a:t>
            </a:r>
            <a:r>
              <a:rPr sz="2400" b="0" i="1" dirty="0">
                <a:solidFill>
                  <a:srgbClr val="686F7A"/>
                </a:solidFill>
                <a:latin typeface="Cambria"/>
              </a:rPr>
              <a:t>silhouette</a:t>
            </a:r>
            <a:r>
              <a:rPr sz="1400" b="0" i="1" dirty="0">
                <a:solidFill>
                  <a:srgbClr val="686F7A"/>
                </a:solidFill>
                <a:latin typeface="Cambria"/>
              </a:rPr>
              <a:t> 0.183)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532120"/>
            <a:ext cx="10538460" cy="502920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5532120"/>
            <a:ext cx="777240" cy="502920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598914"/>
            <a:ext cx="777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4752" y="10871859"/>
            <a:ext cx="96240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FFFFFF"/>
                </a:solidFill>
                <a:latin typeface="Cambria"/>
              </a:rPr>
              <a:t>THE PROBLEM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1539" y="8748150"/>
            <a:ext cx="10538460" cy="502920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  THE PROBLEM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14299" y="8768013"/>
            <a:ext cx="777240" cy="502920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02</a:t>
            </a:r>
            <a:endParaRPr sz="24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270213" y="17480587"/>
            <a:ext cx="10634007" cy="1196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2400" b="1" i="1" dirty="0"/>
              <a:t>To build a proof-of-concept HMM pipeline that detects three evasion patterns Pattern misses: purchase-triggered, sequence-persistent, and inspector-reactive with at least 20% of flagged riders being net-new</a:t>
            </a:r>
            <a:endParaRPr sz="2400" b="1" i="1" dirty="0">
              <a:solidFill>
                <a:srgbClr val="2D323B"/>
              </a:solidFill>
              <a:latin typeface="Cambria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269980" y="5532120"/>
            <a:ext cx="10538460" cy="502920"/>
          </a:xfrm>
          <a:prstGeom prst="rect">
            <a:avLst/>
          </a:prstGeom>
          <a:solidFill>
            <a:srgbClr val="2C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1269980" y="5532120"/>
            <a:ext cx="777240" cy="502920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224260" y="6096926"/>
            <a:ext cx="10656854" cy="6282525"/>
          </a:xfrm>
          <a:prstGeom prst="rect">
            <a:avLst/>
          </a:prstGeom>
          <a:solidFill>
            <a:srgbClr val="F7F8FA"/>
          </a:solidFill>
          <a:ln w="6350">
            <a:solidFill>
              <a:srgbClr val="CB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2" name="TextBox 121"/>
          <p:cNvSpPr txBox="1"/>
          <p:nvPr/>
        </p:nvSpPr>
        <p:spPr>
          <a:xfrm>
            <a:off x="11434572" y="22472903"/>
            <a:ext cx="1097280" cy="3279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082760" y="5532120"/>
            <a:ext cx="10640568" cy="502920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2082760" y="5532120"/>
            <a:ext cx="777240" cy="502920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2082760" y="6089904"/>
            <a:ext cx="10812780" cy="7127748"/>
          </a:xfrm>
          <a:prstGeom prst="rect">
            <a:avLst/>
          </a:prstGeom>
          <a:solidFill>
            <a:srgbClr val="F7F8FA"/>
          </a:solidFill>
          <a:ln w="6350">
            <a:solidFill>
              <a:srgbClr val="CB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0D28F61-B848-8FBC-3FE6-7804B1201EF6}"/>
              </a:ext>
            </a:extLst>
          </p:cNvPr>
          <p:cNvGrpSpPr/>
          <p:nvPr/>
        </p:nvGrpSpPr>
        <p:grpSpPr>
          <a:xfrm>
            <a:off x="22119336" y="14313196"/>
            <a:ext cx="10840212" cy="5652924"/>
            <a:chOff x="22119336" y="14313196"/>
            <a:chExt cx="10840212" cy="5652924"/>
          </a:xfrm>
        </p:grpSpPr>
        <p:pic>
          <p:nvPicPr>
            <p:cNvPr id="199" name="Picture 198" descr="Image_3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19336" y="14313196"/>
              <a:ext cx="10684764" cy="5354854"/>
            </a:xfrm>
            <a:prstGeom prst="rect">
              <a:avLst/>
            </a:prstGeom>
          </p:spPr>
        </p:pic>
        <p:sp>
          <p:nvSpPr>
            <p:cNvPr id="200" name="TextBox 199"/>
            <p:cNvSpPr txBox="1"/>
            <p:nvPr/>
          </p:nvSpPr>
          <p:spPr>
            <a:xfrm>
              <a:off x="22243722" y="19755613"/>
              <a:ext cx="10715826" cy="2105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1" dirty="0">
                  <a:solidFill>
                    <a:srgbClr val="686F7A"/>
                  </a:solidFill>
                  <a:latin typeface="Cambria"/>
                </a:rPr>
                <a:t>Heatmap rows = clusters C0–C5; columns = mean signal values. C5 gaming score (1.639) is 10× any other cluster — invisible to Pattern</a:t>
              </a:r>
              <a:r>
                <a:rPr sz="1100" b="0" i="1" dirty="0">
                  <a:solidFill>
                    <a:srgbClr val="686F7A"/>
                  </a:solidFill>
                  <a:latin typeface="Cambria"/>
                </a:rPr>
                <a:t>.</a:t>
              </a:r>
            </a:p>
          </p:txBody>
        </p:sp>
      </p:grpSp>
      <p:sp>
        <p:nvSpPr>
          <p:cNvPr id="207" name="Rectangle 206"/>
          <p:cNvSpPr/>
          <p:nvPr/>
        </p:nvSpPr>
        <p:spPr>
          <a:xfrm>
            <a:off x="32986980" y="5418970"/>
            <a:ext cx="777240" cy="502920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33064856" y="6007022"/>
            <a:ext cx="10826343" cy="553720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7" name="Rectangle 246"/>
          <p:cNvSpPr/>
          <p:nvPr/>
        </p:nvSpPr>
        <p:spPr>
          <a:xfrm>
            <a:off x="33428367" y="14530233"/>
            <a:ext cx="10538460" cy="502920"/>
          </a:xfrm>
          <a:prstGeom prst="rect">
            <a:avLst/>
          </a:prstGeom>
          <a:solidFill>
            <a:srgbClr val="2D6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   WHAT WE FOUND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32895540" y="14530233"/>
            <a:ext cx="777240" cy="502920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33107376" y="23726785"/>
            <a:ext cx="873727" cy="596946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33151572" y="24393977"/>
            <a:ext cx="10209276" cy="1327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sz="2000" b="0" i="0" dirty="0">
                <a:solidFill>
                  <a:srgbClr val="2D323B"/>
                </a:solidFill>
                <a:latin typeface="Cambria"/>
              </a:rPr>
              <a:t>The ML pipeline extends </a:t>
            </a:r>
            <a:r>
              <a:rPr lang="en-US" sz="2000" b="0" i="0" dirty="0">
                <a:solidFill>
                  <a:srgbClr val="2D323B"/>
                </a:solidFill>
                <a:latin typeface="Cambria"/>
              </a:rPr>
              <a:t>the </a:t>
            </a:r>
            <a:r>
              <a:rPr sz="2000" b="0" i="0" dirty="0">
                <a:solidFill>
                  <a:srgbClr val="2D323B"/>
                </a:solidFill>
                <a:latin typeface="Cambria"/>
              </a:rPr>
              <a:t>Pattern</a:t>
            </a:r>
            <a:r>
              <a:rPr lang="en-US" sz="2000" b="0" i="0" dirty="0">
                <a:solidFill>
                  <a:srgbClr val="2D323B"/>
                </a:solidFill>
                <a:latin typeface="Cambria"/>
              </a:rPr>
              <a:t>. </a:t>
            </a:r>
            <a:r>
              <a:rPr lang="en-US" sz="2000" dirty="0">
                <a:solidFill>
                  <a:srgbClr val="2D323B"/>
                </a:solidFill>
                <a:latin typeface="Cambria"/>
              </a:rPr>
              <a:t>I</a:t>
            </a:r>
            <a:r>
              <a:rPr sz="2000" b="0" i="0" dirty="0">
                <a:solidFill>
                  <a:srgbClr val="2D323B"/>
                </a:solidFill>
                <a:latin typeface="Cambria"/>
              </a:rPr>
              <a:t>t does not replace it. Pattern's rules remain 20% of the composite score and provide strong baseline confirmation. The pipeline adds three capabilities Pattern structurally lacks: sequence memory, inspector context, and continuous risk scoring.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3078420" y="21130132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endParaRPr sz="1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05" name="Rectangle 304"/>
          <p:cNvSpPr/>
          <p:nvPr/>
        </p:nvSpPr>
        <p:spPr>
          <a:xfrm>
            <a:off x="0" y="32321453"/>
            <a:ext cx="43891200" cy="596946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THANK YOU, PROFESSOR JIM RYAN</a:t>
            </a:r>
            <a:endParaRPr sz="24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6" name="Rectangle 305"/>
          <p:cNvSpPr/>
          <p:nvPr/>
        </p:nvSpPr>
        <p:spPr>
          <a:xfrm>
            <a:off x="-14224" y="32240172"/>
            <a:ext cx="43891200" cy="91440"/>
          </a:xfrm>
          <a:prstGeom prst="rect">
            <a:avLst/>
          </a:prstGeom>
          <a:solidFill>
            <a:srgbClr val="B88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3" name="Picture 342">
            <a:extLst>
              <a:ext uri="{FF2B5EF4-FFF2-40B4-BE49-F238E27FC236}">
                <a16:creationId xmlns:a16="http://schemas.microsoft.com/office/drawing/2014/main" id="{84A40486-B769-904A-8467-A4D79886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81" y="188976"/>
            <a:ext cx="3872019" cy="2993035"/>
          </a:xfrm>
          <a:prstGeom prst="rect">
            <a:avLst/>
          </a:prstGeom>
        </p:spPr>
      </p:pic>
      <p:pic>
        <p:nvPicPr>
          <p:cNvPr id="348" name="Picture 347">
            <a:extLst>
              <a:ext uri="{FF2B5EF4-FFF2-40B4-BE49-F238E27FC236}">
                <a16:creationId xmlns:a16="http://schemas.microsoft.com/office/drawing/2014/main" id="{09B06E1F-DEA2-9646-85BC-9CCC976FA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8590" y="246692"/>
            <a:ext cx="3927607" cy="30360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B85D284-008E-624D-8F10-B2655E3EF33B}"/>
              </a:ext>
            </a:extLst>
          </p:cNvPr>
          <p:cNvSpPr txBox="1"/>
          <p:nvPr/>
        </p:nvSpPr>
        <p:spPr>
          <a:xfrm>
            <a:off x="-256032" y="7902822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9FD2A6C8-356F-D334-539A-5061383A4078}"/>
              </a:ext>
            </a:extLst>
          </p:cNvPr>
          <p:cNvSpPr txBox="1"/>
          <p:nvPr/>
        </p:nvSpPr>
        <p:spPr>
          <a:xfrm>
            <a:off x="1260490" y="5590676"/>
            <a:ext cx="96240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Cambria"/>
              </a:rPr>
              <a:t>INTRODUCTION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3282098E-FB84-D41D-4867-B7A615F81CEA}"/>
              </a:ext>
            </a:extLst>
          </p:cNvPr>
          <p:cNvSpPr txBox="1"/>
          <p:nvPr/>
        </p:nvSpPr>
        <p:spPr>
          <a:xfrm>
            <a:off x="503168" y="6240848"/>
            <a:ext cx="10209276" cy="20085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/>
              <a:t>A fraud pattern has emerged on MBTA commuter rail: riders activate tickets only when they spot an inspector, making purchase, activation, and scan look identical to legitimate use. Pattern's count-based rules catch 58,752 such riders, but miss those who buy reactively, game the thresholds, or shift behavior over time. This project's HMM-based pipeline surfaces 15,195 evaders Pattern misses entirely.</a:t>
            </a:r>
            <a:endParaRPr sz="2400" b="0" i="0" dirty="0">
              <a:solidFill>
                <a:srgbClr val="2D323B"/>
              </a:solidFill>
              <a:latin typeface="Cambria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D6AC0F9E-0FA2-81A2-4E9A-2AB876BBA318}"/>
              </a:ext>
            </a:extLst>
          </p:cNvPr>
          <p:cNvSpPr/>
          <p:nvPr/>
        </p:nvSpPr>
        <p:spPr>
          <a:xfrm>
            <a:off x="68513" y="16710558"/>
            <a:ext cx="777240" cy="702193"/>
          </a:xfrm>
          <a:prstGeom prst="rect">
            <a:avLst/>
          </a:prstGeom>
          <a:solidFill>
            <a:srgbClr val="14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7CF04DF-6866-6137-46CA-63A9BF249515}"/>
              </a:ext>
            </a:extLst>
          </p:cNvPr>
          <p:cNvGrpSpPr/>
          <p:nvPr/>
        </p:nvGrpSpPr>
        <p:grpSpPr>
          <a:xfrm>
            <a:off x="-29515" y="16710558"/>
            <a:ext cx="11253774" cy="722478"/>
            <a:chOff x="-349629" y="14383513"/>
            <a:chExt cx="11345289" cy="502920"/>
          </a:xfrm>
        </p:grpSpPr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807C0FCF-DCE9-DACD-C578-C339CE625A25}"/>
                </a:ext>
              </a:extLst>
            </p:cNvPr>
            <p:cNvSpPr/>
            <p:nvPr/>
          </p:nvSpPr>
          <p:spPr>
            <a:xfrm>
              <a:off x="457200" y="14383513"/>
              <a:ext cx="10538460" cy="502920"/>
            </a:xfrm>
            <a:prstGeom prst="rect">
              <a:avLst/>
            </a:prstGeom>
            <a:solidFill>
              <a:srgbClr val="8B1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6E02BCD4-34FF-B249-87FF-CA7F20B23CC3}"/>
                </a:ext>
              </a:extLst>
            </p:cNvPr>
            <p:cNvSpPr txBox="1"/>
            <p:nvPr/>
          </p:nvSpPr>
          <p:spPr>
            <a:xfrm>
              <a:off x="-349629" y="14468270"/>
              <a:ext cx="777241" cy="2570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03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DCA95437-17D8-89A5-F831-06FBAB79D509}"/>
                </a:ext>
              </a:extLst>
            </p:cNvPr>
            <p:cNvSpPr txBox="1"/>
            <p:nvPr/>
          </p:nvSpPr>
          <p:spPr>
            <a:xfrm>
              <a:off x="1371600" y="14533377"/>
              <a:ext cx="9624060" cy="2570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OBJECTIVE</a:t>
              </a:r>
            </a:p>
          </p:txBody>
        </p:sp>
      </p:grpSp>
      <p:sp>
        <p:nvSpPr>
          <p:cNvPr id="482" name="Rectangle 481">
            <a:extLst>
              <a:ext uri="{FF2B5EF4-FFF2-40B4-BE49-F238E27FC236}">
                <a16:creationId xmlns:a16="http://schemas.microsoft.com/office/drawing/2014/main" id="{6A87DCA1-A27D-9A9B-4C7A-C2D2EFB6D5B8}"/>
              </a:ext>
            </a:extLst>
          </p:cNvPr>
          <p:cNvSpPr/>
          <p:nvPr/>
        </p:nvSpPr>
        <p:spPr>
          <a:xfrm>
            <a:off x="-14224" y="30742615"/>
            <a:ext cx="1166368" cy="1072014"/>
          </a:xfrm>
          <a:prstGeom prst="rect">
            <a:avLst/>
          </a:prstGeom>
          <a:solidFill>
            <a:srgbClr val="68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5D43723C-E4F6-9A4A-C842-AB2B538EA409}"/>
              </a:ext>
            </a:extLst>
          </p:cNvPr>
          <p:cNvSpPr/>
          <p:nvPr/>
        </p:nvSpPr>
        <p:spPr>
          <a:xfrm>
            <a:off x="0" y="31786919"/>
            <a:ext cx="11183113" cy="489830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5A1D268-C41C-F8D2-37EA-7109BDC62396}"/>
              </a:ext>
            </a:extLst>
          </p:cNvPr>
          <p:cNvGrpSpPr/>
          <p:nvPr/>
        </p:nvGrpSpPr>
        <p:grpSpPr>
          <a:xfrm>
            <a:off x="-14223" y="26462731"/>
            <a:ext cx="12582652" cy="1265867"/>
            <a:chOff x="141732" y="22539697"/>
            <a:chExt cx="12457803" cy="796662"/>
          </a:xfrm>
        </p:grpSpPr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252165B4-73D4-7EE5-16A6-8CC8EB6B9671}"/>
                </a:ext>
              </a:extLst>
            </p:cNvPr>
            <p:cNvSpPr/>
            <p:nvPr/>
          </p:nvSpPr>
          <p:spPr>
            <a:xfrm>
              <a:off x="777240" y="22550545"/>
              <a:ext cx="10538460" cy="502920"/>
            </a:xfrm>
            <a:prstGeom prst="rect">
              <a:avLst/>
            </a:prstGeom>
            <a:solidFill>
              <a:srgbClr val="2C5A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8FECD335-9D46-9ADF-C017-7BD1EC747EE7}"/>
                </a:ext>
              </a:extLst>
            </p:cNvPr>
            <p:cNvSpPr/>
            <p:nvPr/>
          </p:nvSpPr>
          <p:spPr>
            <a:xfrm>
              <a:off x="141732" y="22550545"/>
              <a:ext cx="777240" cy="502920"/>
            </a:xfrm>
            <a:prstGeom prst="rect">
              <a:avLst/>
            </a:prstGeom>
            <a:solidFill>
              <a:srgbClr val="1426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0E35028E-BADF-4A47-2AC8-702D8578A16A}"/>
                </a:ext>
              </a:extLst>
            </p:cNvPr>
            <p:cNvSpPr txBox="1"/>
            <p:nvPr/>
          </p:nvSpPr>
          <p:spPr>
            <a:xfrm>
              <a:off x="242781" y="22539697"/>
              <a:ext cx="777240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05</a:t>
              </a: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99A2EB9B-4D39-88BB-96AA-61B24E52A87D}"/>
                </a:ext>
              </a:extLst>
            </p:cNvPr>
            <p:cNvSpPr txBox="1"/>
            <p:nvPr/>
          </p:nvSpPr>
          <p:spPr>
            <a:xfrm>
              <a:off x="1444511" y="22579841"/>
              <a:ext cx="9624060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SCORING PIPELINE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F3A5D951-6DBB-AEA2-4BC8-F8BADB2E7189}"/>
                </a:ext>
              </a:extLst>
            </p:cNvPr>
            <p:cNvSpPr txBox="1"/>
            <p:nvPr/>
          </p:nvSpPr>
          <p:spPr>
            <a:xfrm>
              <a:off x="2390259" y="23028582"/>
              <a:ext cx="10209276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1" dirty="0">
                  <a:solidFill>
                    <a:srgbClr val="2D323B"/>
                  </a:solidFill>
                  <a:latin typeface="Cambria"/>
                </a:rPr>
                <a:t>Four </a:t>
              </a:r>
              <a:r>
                <a:rPr sz="2000" b="0" i="1" dirty="0" err="1">
                  <a:solidFill>
                    <a:srgbClr val="2D323B"/>
                  </a:solidFill>
                  <a:latin typeface="Cambria"/>
                </a:rPr>
                <a:t>normalised</a:t>
              </a:r>
              <a:r>
                <a:rPr sz="2000" b="0" i="1" dirty="0">
                  <a:solidFill>
                    <a:srgbClr val="2D323B"/>
                  </a:solidFill>
                  <a:latin typeface="Cambria"/>
                </a:rPr>
                <a:t> signals weighted into a composite anomaly score (0–1):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79853F-73B3-1D7A-24A9-0C5C8B85C0EE}"/>
              </a:ext>
            </a:extLst>
          </p:cNvPr>
          <p:cNvGrpSpPr/>
          <p:nvPr/>
        </p:nvGrpSpPr>
        <p:grpSpPr>
          <a:xfrm>
            <a:off x="-91441" y="27474822"/>
            <a:ext cx="10634007" cy="963018"/>
            <a:chOff x="144922" y="23399696"/>
            <a:chExt cx="10210658" cy="777240"/>
          </a:xfrm>
        </p:grpSpPr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ED53A22C-116F-6DB2-B213-A35C0B9D7125}"/>
                </a:ext>
              </a:extLst>
            </p:cNvPr>
            <p:cNvSpPr/>
            <p:nvPr/>
          </p:nvSpPr>
          <p:spPr>
            <a:xfrm>
              <a:off x="209408" y="23399696"/>
              <a:ext cx="1109614" cy="777240"/>
            </a:xfrm>
            <a:prstGeom prst="rect">
              <a:avLst/>
            </a:prstGeom>
            <a:solidFill>
              <a:srgbClr val="8B1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6C68993B-C87B-ABB4-DAC3-AE54CED669BA}"/>
                </a:ext>
              </a:extLst>
            </p:cNvPr>
            <p:cNvSpPr txBox="1"/>
            <p:nvPr/>
          </p:nvSpPr>
          <p:spPr>
            <a:xfrm>
              <a:off x="144922" y="23570217"/>
              <a:ext cx="102551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000" b="1" i="0" dirty="0">
                  <a:solidFill>
                    <a:srgbClr val="FFFFFF"/>
                  </a:solidFill>
                  <a:latin typeface="Cambria"/>
                </a:rPr>
                <a:t>30%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1BAFAE35-B9B7-7C33-49BD-0D5C9F685CB9}"/>
                </a:ext>
              </a:extLst>
            </p:cNvPr>
            <p:cNvSpPr txBox="1"/>
            <p:nvPr/>
          </p:nvSpPr>
          <p:spPr>
            <a:xfrm>
              <a:off x="1371600" y="23564086"/>
              <a:ext cx="898398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1" i="0" dirty="0">
                  <a:solidFill>
                    <a:srgbClr val="16181F"/>
                  </a:solidFill>
                  <a:latin typeface="Cambria"/>
                </a:rPr>
                <a:t>Inspector Reactivity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B147B37D-A73C-0CF4-EF12-3624427C5CEB}"/>
                </a:ext>
              </a:extLst>
            </p:cNvPr>
            <p:cNvSpPr txBox="1"/>
            <p:nvPr/>
          </p:nvSpPr>
          <p:spPr>
            <a:xfrm>
              <a:off x="1900570" y="23871863"/>
              <a:ext cx="5677662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b="0" i="1" dirty="0">
                  <a:solidFill>
                    <a:srgbClr val="2D323B"/>
                  </a:solidFill>
                  <a:latin typeface="Cambria"/>
                </a:rPr>
                <a:t>Faster when inspector is on the commuter train?</a:t>
              </a:r>
            </a:p>
          </p:txBody>
        </p:sp>
      </p:grpSp>
      <p:sp>
        <p:nvSpPr>
          <p:cNvPr id="507" name="TextBox 506">
            <a:extLst>
              <a:ext uri="{FF2B5EF4-FFF2-40B4-BE49-F238E27FC236}">
                <a16:creationId xmlns:a16="http://schemas.microsoft.com/office/drawing/2014/main" id="{37827E28-365A-A077-9139-D2F4A65189BA}"/>
              </a:ext>
            </a:extLst>
          </p:cNvPr>
          <p:cNvSpPr txBox="1"/>
          <p:nvPr/>
        </p:nvSpPr>
        <p:spPr>
          <a:xfrm>
            <a:off x="-91440" y="28692935"/>
            <a:ext cx="10972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FFFFFF"/>
                </a:solidFill>
                <a:latin typeface="Cambria"/>
              </a:rPr>
              <a:t>25%</a:t>
            </a:r>
            <a:r>
              <a:rPr lang="en-US" sz="2000" b="1" i="0" dirty="0">
                <a:solidFill>
                  <a:srgbClr val="FFFFFF"/>
                </a:solidFill>
                <a:latin typeface="Cambria"/>
              </a:rPr>
              <a:t> </a:t>
            </a:r>
            <a:endParaRPr sz="2000" b="1" i="0" dirty="0">
              <a:solidFill>
                <a:srgbClr val="FFFFFF"/>
              </a:solidFill>
              <a:latin typeface="Cambria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8EC652E-5321-F16A-2F5A-26D4282900CC}"/>
              </a:ext>
            </a:extLst>
          </p:cNvPr>
          <p:cNvGrpSpPr/>
          <p:nvPr/>
        </p:nvGrpSpPr>
        <p:grpSpPr>
          <a:xfrm>
            <a:off x="-26467" y="28437840"/>
            <a:ext cx="11209579" cy="1188720"/>
            <a:chOff x="132588" y="24170803"/>
            <a:chExt cx="10671048" cy="813136"/>
          </a:xfrm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D97EEB79-11EA-EBD3-F57C-DF38F2FF57DF}"/>
                </a:ext>
              </a:extLst>
            </p:cNvPr>
            <p:cNvSpPr/>
            <p:nvPr/>
          </p:nvSpPr>
          <p:spPr>
            <a:xfrm>
              <a:off x="132588" y="24170803"/>
              <a:ext cx="1101852" cy="777240"/>
            </a:xfrm>
            <a:prstGeom prst="rect">
              <a:avLst/>
            </a:prstGeom>
            <a:solidFill>
              <a:srgbClr val="2C5A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25%</a:t>
              </a:r>
              <a:endParaRPr sz="2000" b="1" dirty="0"/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2A995C2B-7C54-084D-58ED-EAF5EB22BA6B}"/>
                </a:ext>
              </a:extLst>
            </p:cNvPr>
            <p:cNvSpPr txBox="1"/>
            <p:nvPr/>
          </p:nvSpPr>
          <p:spPr>
            <a:xfrm>
              <a:off x="1371600" y="24345299"/>
              <a:ext cx="898398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1" i="0" dirty="0">
                  <a:solidFill>
                    <a:srgbClr val="16181F"/>
                  </a:solidFill>
                  <a:latin typeface="Cambria"/>
                </a:rPr>
                <a:t>HMM Posterior Score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93AF9E50-A275-CCA4-45F1-C9DA21BAF9C5}"/>
                </a:ext>
              </a:extLst>
            </p:cNvPr>
            <p:cNvSpPr txBox="1"/>
            <p:nvPr/>
          </p:nvSpPr>
          <p:spPr>
            <a:xfrm>
              <a:off x="1819656" y="24706940"/>
              <a:ext cx="898398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b="0" i="1" dirty="0">
                  <a:solidFill>
                    <a:srgbClr val="2D323B"/>
                  </a:solidFill>
                  <a:latin typeface="Cambria"/>
                </a:rPr>
                <a:t>Fraction of sequence in evasion states (0, 1, 3)?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650FD6-20F7-1972-BBF6-D27B3E0AE680}"/>
              </a:ext>
            </a:extLst>
          </p:cNvPr>
          <p:cNvGrpSpPr/>
          <p:nvPr/>
        </p:nvGrpSpPr>
        <p:grpSpPr>
          <a:xfrm>
            <a:off x="-26466" y="29562551"/>
            <a:ext cx="1170515" cy="1174095"/>
            <a:chOff x="132588" y="24948043"/>
            <a:chExt cx="1109472" cy="777240"/>
          </a:xfrm>
        </p:grpSpPr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1EA86609-033F-DB34-A0E1-E587E2B17F7F}"/>
                </a:ext>
              </a:extLst>
            </p:cNvPr>
            <p:cNvSpPr/>
            <p:nvPr/>
          </p:nvSpPr>
          <p:spPr>
            <a:xfrm>
              <a:off x="132588" y="24948043"/>
              <a:ext cx="1101852" cy="777240"/>
            </a:xfrm>
            <a:prstGeom prst="rect">
              <a:avLst/>
            </a:prstGeom>
            <a:solidFill>
              <a:srgbClr val="B88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9F98D228-AEA1-E242-B130-CC93F2D1ABBF}"/>
                </a:ext>
              </a:extLst>
            </p:cNvPr>
            <p:cNvSpPr txBox="1"/>
            <p:nvPr/>
          </p:nvSpPr>
          <p:spPr>
            <a:xfrm>
              <a:off x="132588" y="25182774"/>
              <a:ext cx="1109472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000" b="1" i="0" dirty="0">
                  <a:solidFill>
                    <a:srgbClr val="FFFFFF"/>
                  </a:solidFill>
                  <a:latin typeface="Cambria"/>
                </a:rPr>
                <a:t>25%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C894698-5A83-B029-9010-E1A6ACE0EB7D}"/>
              </a:ext>
            </a:extLst>
          </p:cNvPr>
          <p:cNvGrpSpPr/>
          <p:nvPr/>
        </p:nvGrpSpPr>
        <p:grpSpPr>
          <a:xfrm>
            <a:off x="1234440" y="29917135"/>
            <a:ext cx="9331452" cy="568726"/>
            <a:chOff x="1371600" y="25111732"/>
            <a:chExt cx="9331452" cy="568726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F434BFA8-13BF-D9F1-26B8-10EDB57DCB06}"/>
                </a:ext>
              </a:extLst>
            </p:cNvPr>
            <p:cNvSpPr txBox="1"/>
            <p:nvPr/>
          </p:nvSpPr>
          <p:spPr>
            <a:xfrm>
              <a:off x="1371600" y="25111732"/>
              <a:ext cx="898398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1" i="0" dirty="0">
                  <a:solidFill>
                    <a:srgbClr val="16181F"/>
                  </a:solidFill>
                  <a:latin typeface="Cambria"/>
                </a:rPr>
                <a:t>Gaming Suspicion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5B7947F3-DA6B-931B-A1E8-0B5AC5DE33A4}"/>
                </a:ext>
              </a:extLst>
            </p:cNvPr>
            <p:cNvSpPr txBox="1"/>
            <p:nvPr/>
          </p:nvSpPr>
          <p:spPr>
            <a:xfrm>
              <a:off x="1719072" y="25403459"/>
              <a:ext cx="898398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b="0" i="1" dirty="0">
                  <a:solidFill>
                    <a:srgbClr val="2D323B"/>
                  </a:solidFill>
                  <a:latin typeface="Cambria"/>
                </a:rPr>
                <a:t>Activations cluster in 16–30s range upon seeing inspector?</a:t>
              </a:r>
            </a:p>
          </p:txBody>
        </p:sp>
      </p:grpSp>
      <p:sp>
        <p:nvSpPr>
          <p:cNvPr id="513" name="TextBox 512">
            <a:extLst>
              <a:ext uri="{FF2B5EF4-FFF2-40B4-BE49-F238E27FC236}">
                <a16:creationId xmlns:a16="http://schemas.microsoft.com/office/drawing/2014/main" id="{C78D56CE-C2DD-F5FC-2A45-F064C381D60C}"/>
              </a:ext>
            </a:extLst>
          </p:cNvPr>
          <p:cNvSpPr txBox="1"/>
          <p:nvPr/>
        </p:nvSpPr>
        <p:spPr>
          <a:xfrm>
            <a:off x="144922" y="31167596"/>
            <a:ext cx="87509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FFFFFF"/>
                </a:solidFill>
                <a:latin typeface="Cambria"/>
              </a:rPr>
              <a:t>20%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AB54CB17-CFDE-CB2F-C917-B6D0F58A9A6F}"/>
              </a:ext>
            </a:extLst>
          </p:cNvPr>
          <p:cNvSpPr txBox="1"/>
          <p:nvPr/>
        </p:nvSpPr>
        <p:spPr>
          <a:xfrm>
            <a:off x="1207008" y="31167596"/>
            <a:ext cx="543802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16181F"/>
                </a:solidFill>
                <a:latin typeface="Cambria"/>
              </a:rPr>
              <a:t>Rule Flag Score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7FAA09A5-4306-FA31-E50D-78DFF58FA1E5}"/>
              </a:ext>
            </a:extLst>
          </p:cNvPr>
          <p:cNvSpPr txBox="1"/>
          <p:nvPr/>
        </p:nvSpPr>
        <p:spPr>
          <a:xfrm>
            <a:off x="1523006" y="31382900"/>
            <a:ext cx="50017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1" dirty="0">
                <a:solidFill>
                  <a:srgbClr val="2D323B"/>
                </a:solidFill>
                <a:latin typeface="Cambria"/>
              </a:rPr>
              <a:t>Pattern HIGH / MEDIUM confirmation?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C8C2DBA-AF2B-52BB-2127-F301E0D8EAD9}"/>
              </a:ext>
            </a:extLst>
          </p:cNvPr>
          <p:cNvSpPr txBox="1"/>
          <p:nvPr/>
        </p:nvSpPr>
        <p:spPr>
          <a:xfrm>
            <a:off x="270213" y="31932395"/>
            <a:ext cx="1028645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FFFFFF"/>
                </a:solidFill>
                <a:latin typeface="Cambria"/>
              </a:rPr>
              <a:t>Score = 0.30·Inspector + 0.25·HMM + 0.25·Gaming + 0.20·Rules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1E27F04B-D82F-2C0F-B2C6-54D6FB7E0D08}"/>
              </a:ext>
            </a:extLst>
          </p:cNvPr>
          <p:cNvSpPr txBox="1"/>
          <p:nvPr/>
        </p:nvSpPr>
        <p:spPr>
          <a:xfrm>
            <a:off x="11224260" y="5621454"/>
            <a:ext cx="777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748524FB-1725-7CFE-E662-C08828E04EC2}"/>
              </a:ext>
            </a:extLst>
          </p:cNvPr>
          <p:cNvSpPr txBox="1"/>
          <p:nvPr/>
        </p:nvSpPr>
        <p:spPr>
          <a:xfrm>
            <a:off x="12111228" y="5563564"/>
            <a:ext cx="969721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Cambria"/>
              </a:rPr>
              <a:t>HMM — 3 EVASION ARCHETYPES</a:t>
            </a: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5E3A08C8-D262-1581-9FA8-758A48C0D113}"/>
              </a:ext>
            </a:extLst>
          </p:cNvPr>
          <p:cNvSpPr/>
          <p:nvPr/>
        </p:nvSpPr>
        <p:spPr>
          <a:xfrm>
            <a:off x="11264983" y="6577039"/>
            <a:ext cx="10415441" cy="16449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165204A6-2343-124C-C200-9C15F2B7CBE7}"/>
              </a:ext>
            </a:extLst>
          </p:cNvPr>
          <p:cNvSpPr/>
          <p:nvPr/>
        </p:nvSpPr>
        <p:spPr>
          <a:xfrm>
            <a:off x="11434572" y="6577038"/>
            <a:ext cx="1026751" cy="1672373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E0B4286F-F75D-1259-0A90-AE93460F73D1}"/>
              </a:ext>
            </a:extLst>
          </p:cNvPr>
          <p:cNvSpPr/>
          <p:nvPr/>
        </p:nvSpPr>
        <p:spPr>
          <a:xfrm>
            <a:off x="11361420" y="8311093"/>
            <a:ext cx="10319004" cy="1956416"/>
          </a:xfrm>
          <a:prstGeom prst="rect">
            <a:avLst/>
          </a:prstGeom>
          <a:solidFill>
            <a:srgbClr val="FFFFFF"/>
          </a:solidFill>
          <a:ln w="25400">
            <a:solidFill>
              <a:srgbClr val="B1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D6C6AFE3-0EB9-37C5-8B72-68554D35C905}"/>
              </a:ext>
            </a:extLst>
          </p:cNvPr>
          <p:cNvSpPr/>
          <p:nvPr/>
        </p:nvSpPr>
        <p:spPr>
          <a:xfrm>
            <a:off x="11364043" y="8273982"/>
            <a:ext cx="1097280" cy="1993526"/>
          </a:xfrm>
          <a:prstGeom prst="rect">
            <a:avLst/>
          </a:prstGeom>
          <a:solidFill>
            <a:srgbClr val="B1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00" dirty="0"/>
              <a:t>0</a:t>
            </a:r>
            <a:endParaRPr sz="4200" dirty="0"/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DD6FD6A3-2006-1512-0C5C-CECF74FC8FBB}"/>
              </a:ext>
            </a:extLst>
          </p:cNvPr>
          <p:cNvSpPr/>
          <p:nvPr/>
        </p:nvSpPr>
        <p:spPr>
          <a:xfrm>
            <a:off x="11315700" y="10317254"/>
            <a:ext cx="10364724" cy="2021138"/>
          </a:xfrm>
          <a:prstGeom prst="rect">
            <a:avLst/>
          </a:prstGeom>
          <a:solidFill>
            <a:srgbClr val="FFFFFF"/>
          </a:solidFill>
          <a:ln w="25400">
            <a:solidFill>
              <a:srgbClr val="C08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919C99AF-BAC8-AB95-D3A2-5F92CF474BF9}"/>
              </a:ext>
            </a:extLst>
          </p:cNvPr>
          <p:cNvSpPr/>
          <p:nvPr/>
        </p:nvSpPr>
        <p:spPr>
          <a:xfrm>
            <a:off x="11327130" y="10353847"/>
            <a:ext cx="1097280" cy="1984545"/>
          </a:xfrm>
          <a:prstGeom prst="rect">
            <a:avLst/>
          </a:prstGeom>
          <a:solidFill>
            <a:srgbClr val="C08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00" b="1" dirty="0"/>
              <a:t>3</a:t>
            </a:r>
          </a:p>
          <a:p>
            <a:pPr algn="ctr"/>
            <a:r>
              <a:rPr lang="en-US" sz="2000" b="1" dirty="0"/>
              <a:t>State</a:t>
            </a:r>
            <a:endParaRPr sz="2000" b="1" dirty="0"/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82CD2B02-9BD1-F4FC-95B9-0C93718D67A8}"/>
              </a:ext>
            </a:extLst>
          </p:cNvPr>
          <p:cNvSpPr txBox="1"/>
          <p:nvPr/>
        </p:nvSpPr>
        <p:spPr>
          <a:xfrm>
            <a:off x="11782044" y="6119112"/>
            <a:ext cx="102092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 dirty="0">
                <a:solidFill>
                  <a:srgbClr val="686F7A"/>
                </a:solidFill>
                <a:latin typeface="Cambria"/>
              </a:rPr>
              <a:t>BIC selected 9 states from [2,3,4,5,7,9,11]  |  70 fits  |  11.4 </a:t>
            </a:r>
            <a:r>
              <a:rPr sz="1600" b="1" i="1" dirty="0" err="1">
                <a:solidFill>
                  <a:srgbClr val="686F7A"/>
                </a:solidFill>
                <a:latin typeface="Cambria"/>
              </a:rPr>
              <a:t>hrs</a:t>
            </a:r>
            <a:r>
              <a:rPr sz="1600" b="1" i="1" dirty="0">
                <a:solidFill>
                  <a:srgbClr val="686F7A"/>
                </a:solidFill>
                <a:latin typeface="Cambria"/>
              </a:rPr>
              <a:t>  |  65,376 riders (50/50 stratified)</a:t>
            </a:r>
          </a:p>
        </p:txBody>
      </p:sp>
      <p:sp>
        <p:nvSpPr>
          <p:cNvPr id="561" name="TextBox 560">
            <a:extLst>
              <a:ext uri="{FF2B5EF4-FFF2-40B4-BE49-F238E27FC236}">
                <a16:creationId xmlns:a16="http://schemas.microsoft.com/office/drawing/2014/main" id="{91E9478B-96F0-5D5C-6473-4654352B4730}"/>
              </a:ext>
            </a:extLst>
          </p:cNvPr>
          <p:cNvSpPr txBox="1"/>
          <p:nvPr/>
        </p:nvSpPr>
        <p:spPr>
          <a:xfrm>
            <a:off x="11471148" y="6708649"/>
            <a:ext cx="1097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>
                <a:solidFill>
                  <a:srgbClr val="FFFFFF"/>
                </a:solidFill>
                <a:latin typeface="Cambria"/>
              </a:rPr>
              <a:t>State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BAB4FD87-22D3-A329-69C1-F6FCBA08F99C}"/>
              </a:ext>
            </a:extLst>
          </p:cNvPr>
          <p:cNvSpPr txBox="1"/>
          <p:nvPr/>
        </p:nvSpPr>
        <p:spPr>
          <a:xfrm>
            <a:off x="11530584" y="6980604"/>
            <a:ext cx="790956" cy="646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dirty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BAC27DF6-188F-1BDC-AE7F-12C5DD1810E1}"/>
              </a:ext>
            </a:extLst>
          </p:cNvPr>
          <p:cNvSpPr txBox="1"/>
          <p:nvPr/>
        </p:nvSpPr>
        <p:spPr>
          <a:xfrm>
            <a:off x="12632436" y="6708649"/>
            <a:ext cx="72466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8B1A2A"/>
                </a:solidFill>
                <a:latin typeface="Cambria"/>
              </a:rPr>
              <a:t>Habitual Evader</a:t>
            </a: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54937709-1A98-B562-81C8-06193BE8C112}"/>
              </a:ext>
            </a:extLst>
          </p:cNvPr>
          <p:cNvSpPr txBox="1"/>
          <p:nvPr/>
        </p:nvSpPr>
        <p:spPr>
          <a:xfrm>
            <a:off x="19564350" y="6708649"/>
            <a:ext cx="200634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i="0">
                <a:solidFill>
                  <a:srgbClr val="8B1A2A"/>
                </a:solidFill>
                <a:latin typeface="Cambria"/>
              </a:rPr>
              <a:t>20,075 riders</a:t>
            </a: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5630EEE8-474A-2D50-C95E-1CF804BA6AA4}"/>
              </a:ext>
            </a:extLst>
          </p:cNvPr>
          <p:cNvSpPr txBox="1"/>
          <p:nvPr/>
        </p:nvSpPr>
        <p:spPr>
          <a:xfrm>
            <a:off x="13267181" y="7160140"/>
            <a:ext cx="9029700" cy="585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0" dirty="0">
                <a:solidFill>
                  <a:srgbClr val="2D323B"/>
                </a:solidFill>
                <a:latin typeface="Cambria"/>
              </a:rPr>
              <a:t>ACTIVATE_FAST_HANDHELD (75.3%)</a:t>
            </a:r>
          </a:p>
          <a:p>
            <a:pPr algn="l">
              <a:lnSpc>
                <a:spcPct val="110000"/>
              </a:lnSpc>
            </a:pPr>
            <a:r>
              <a:rPr b="0" i="0" dirty="0">
                <a:solidFill>
                  <a:srgbClr val="2D323B"/>
                </a:solidFill>
                <a:latin typeface="Cambria"/>
              </a:rPr>
              <a:t>Self-transition: 0.984 — once in this state, riders almost never leave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EABF2C01-4CDC-1EFB-B64C-72AF92194602}"/>
              </a:ext>
            </a:extLst>
          </p:cNvPr>
          <p:cNvSpPr txBox="1"/>
          <p:nvPr/>
        </p:nvSpPr>
        <p:spPr>
          <a:xfrm>
            <a:off x="11434572" y="9646919"/>
            <a:ext cx="1097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>
                <a:solidFill>
                  <a:srgbClr val="FFFFFF"/>
                </a:solidFill>
                <a:latin typeface="Cambria"/>
              </a:rPr>
              <a:t>State</a:t>
            </a: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28EC5F50-1A5A-A9CD-B450-1481A7F9EC7B}"/>
              </a:ext>
            </a:extLst>
          </p:cNvPr>
          <p:cNvSpPr txBox="1"/>
          <p:nvPr/>
        </p:nvSpPr>
        <p:spPr>
          <a:xfrm>
            <a:off x="12614148" y="8446770"/>
            <a:ext cx="72466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B12A4D"/>
                </a:solidFill>
                <a:latin typeface="Cambria"/>
              </a:rPr>
              <a:t>Purchase-Triggered</a:t>
            </a: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8AC8CEBA-F81D-8980-B96E-89FD898601F4}"/>
              </a:ext>
            </a:extLst>
          </p:cNvPr>
          <p:cNvSpPr txBox="1"/>
          <p:nvPr/>
        </p:nvSpPr>
        <p:spPr>
          <a:xfrm>
            <a:off x="19259550" y="8454241"/>
            <a:ext cx="18562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i="0" dirty="0">
                <a:solidFill>
                  <a:srgbClr val="B12A4D"/>
                </a:solidFill>
                <a:latin typeface="Cambria"/>
              </a:rPr>
              <a:t>11,920</a:t>
            </a:r>
            <a:r>
              <a:rPr sz="1600" b="1" i="0" dirty="0">
                <a:solidFill>
                  <a:srgbClr val="B12A4D"/>
                </a:solidFill>
                <a:latin typeface="Cambria"/>
              </a:rPr>
              <a:t> riders</a:t>
            </a: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2459BF37-992C-E2CD-4323-F00124C7409D}"/>
              </a:ext>
            </a:extLst>
          </p:cNvPr>
          <p:cNvSpPr txBox="1"/>
          <p:nvPr/>
        </p:nvSpPr>
        <p:spPr>
          <a:xfrm>
            <a:off x="13405104" y="8989867"/>
            <a:ext cx="9066276" cy="585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0" dirty="0">
                <a:solidFill>
                  <a:srgbClr val="2D323B"/>
                </a:solidFill>
                <a:latin typeface="Cambria"/>
              </a:rPr>
              <a:t>PURCHASE_THEN_ACTIVATE_FAST (36.7%)</a:t>
            </a:r>
          </a:p>
          <a:p>
            <a:pPr algn="l">
              <a:lnSpc>
                <a:spcPct val="110000"/>
              </a:lnSpc>
            </a:pPr>
            <a:r>
              <a:rPr b="0" i="0" dirty="0">
                <a:solidFill>
                  <a:srgbClr val="2D323B"/>
                </a:solidFill>
                <a:latin typeface="Cambria"/>
              </a:rPr>
              <a:t>Self-transition: 0.971 — once in this state, riders almost never leave</a:t>
            </a: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D9D0F56C-4B47-5760-75EF-8F5A7B9BFF8A}"/>
              </a:ext>
            </a:extLst>
          </p:cNvPr>
          <p:cNvSpPr txBox="1"/>
          <p:nvPr/>
        </p:nvSpPr>
        <p:spPr>
          <a:xfrm>
            <a:off x="12531852" y="10303396"/>
            <a:ext cx="72466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C08421"/>
                </a:solidFill>
                <a:latin typeface="Cambria"/>
              </a:rPr>
              <a:t>Moderate Evader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7A01A145-5A28-7117-2FA2-A086CEE6EC11}"/>
              </a:ext>
            </a:extLst>
          </p:cNvPr>
          <p:cNvSpPr txBox="1"/>
          <p:nvPr/>
        </p:nvSpPr>
        <p:spPr>
          <a:xfrm>
            <a:off x="19259550" y="10440042"/>
            <a:ext cx="200253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i="0" dirty="0">
                <a:solidFill>
                  <a:srgbClr val="C08421"/>
                </a:solidFill>
                <a:latin typeface="Cambria"/>
              </a:rPr>
              <a:t>20,099 riders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8E9C119A-FDB5-9B4D-726B-DC1A5E54323A}"/>
              </a:ext>
            </a:extLst>
          </p:cNvPr>
          <p:cNvSpPr txBox="1"/>
          <p:nvPr/>
        </p:nvSpPr>
        <p:spPr>
          <a:xfrm>
            <a:off x="13210433" y="10871859"/>
            <a:ext cx="8321040" cy="585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0" dirty="0">
                <a:solidFill>
                  <a:srgbClr val="2D323B"/>
                </a:solidFill>
                <a:latin typeface="Cambria"/>
              </a:rPr>
              <a:t>ACTIVATE_FAST_HANDHELD (46.3%)</a:t>
            </a:r>
          </a:p>
          <a:p>
            <a:pPr algn="l">
              <a:lnSpc>
                <a:spcPct val="110000"/>
              </a:lnSpc>
            </a:pPr>
            <a:r>
              <a:rPr b="0" i="0" dirty="0">
                <a:solidFill>
                  <a:srgbClr val="2D323B"/>
                </a:solidFill>
                <a:latin typeface="Cambria"/>
              </a:rPr>
              <a:t>Self-transition: 0.973 — once in this state, riders almost never leave</a:t>
            </a: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52A839B2-2DE4-21F7-5F25-36B3DC51290E}"/>
              </a:ext>
            </a:extLst>
          </p:cNvPr>
          <p:cNvSpPr txBox="1"/>
          <p:nvPr/>
        </p:nvSpPr>
        <p:spPr>
          <a:xfrm>
            <a:off x="22082760" y="5589770"/>
            <a:ext cx="777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Cambria"/>
              </a:rPr>
              <a:t>08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33495576-A94F-7390-B7AB-66A87C2B10B4}"/>
              </a:ext>
            </a:extLst>
          </p:cNvPr>
          <p:cNvSpPr txBox="1"/>
          <p:nvPr/>
        </p:nvSpPr>
        <p:spPr>
          <a:xfrm>
            <a:off x="22924008" y="5589769"/>
            <a:ext cx="987457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Cambria"/>
              </a:rPr>
              <a:t>SIX EVASION CLUSTERS (K=6</a:t>
            </a:r>
            <a:r>
              <a:rPr sz="1600" b="1" i="0" dirty="0">
                <a:solidFill>
                  <a:srgbClr val="FFFFFF"/>
                </a:solidFill>
                <a:latin typeface="Cambria"/>
              </a:rPr>
              <a:t>)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C1C94FED-F7D8-0699-7ED9-A6A72DB68A4F}"/>
              </a:ext>
            </a:extLst>
          </p:cNvPr>
          <p:cNvSpPr/>
          <p:nvPr/>
        </p:nvSpPr>
        <p:spPr>
          <a:xfrm>
            <a:off x="22201630" y="6359652"/>
            <a:ext cx="10475027" cy="1075943"/>
          </a:xfrm>
          <a:prstGeom prst="rect">
            <a:avLst/>
          </a:prstGeom>
          <a:solidFill>
            <a:srgbClr val="FFFFFF"/>
          </a:solidFill>
          <a:ln w="19050">
            <a:solidFill>
              <a:srgbClr val="C08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1E574381-088E-24B1-1355-165B9EDB0256}"/>
              </a:ext>
            </a:extLst>
          </p:cNvPr>
          <p:cNvSpPr/>
          <p:nvPr/>
        </p:nvSpPr>
        <p:spPr>
          <a:xfrm>
            <a:off x="22201631" y="6359652"/>
            <a:ext cx="182880" cy="1075943"/>
          </a:xfrm>
          <a:prstGeom prst="rect">
            <a:avLst/>
          </a:prstGeom>
          <a:solidFill>
            <a:srgbClr val="C08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95F6DD45-BE3A-6CF8-6B4C-A2FFE0E9849B}"/>
              </a:ext>
            </a:extLst>
          </p:cNvPr>
          <p:cNvSpPr/>
          <p:nvPr/>
        </p:nvSpPr>
        <p:spPr>
          <a:xfrm>
            <a:off x="22201630" y="7472172"/>
            <a:ext cx="10475027" cy="1075943"/>
          </a:xfrm>
          <a:prstGeom prst="rect">
            <a:avLst/>
          </a:prstGeom>
          <a:solidFill>
            <a:srgbClr val="FFFFFF"/>
          </a:solidFill>
          <a:ln w="19050">
            <a:solidFill>
              <a:srgbClr val="B1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BE9BA64C-D018-927C-7580-AAF3D6791A66}"/>
              </a:ext>
            </a:extLst>
          </p:cNvPr>
          <p:cNvSpPr/>
          <p:nvPr/>
        </p:nvSpPr>
        <p:spPr>
          <a:xfrm>
            <a:off x="22201631" y="7472172"/>
            <a:ext cx="182880" cy="1075943"/>
          </a:xfrm>
          <a:prstGeom prst="rect">
            <a:avLst/>
          </a:prstGeom>
          <a:solidFill>
            <a:srgbClr val="B1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02347C8B-9896-A367-DFC7-270E024F3210}"/>
              </a:ext>
            </a:extLst>
          </p:cNvPr>
          <p:cNvSpPr/>
          <p:nvPr/>
        </p:nvSpPr>
        <p:spPr>
          <a:xfrm>
            <a:off x="22201630" y="8584692"/>
            <a:ext cx="10475027" cy="1075943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5C60F329-4372-8388-B09F-DA30EEA483FC}"/>
              </a:ext>
            </a:extLst>
          </p:cNvPr>
          <p:cNvSpPr/>
          <p:nvPr/>
        </p:nvSpPr>
        <p:spPr>
          <a:xfrm>
            <a:off x="22201631" y="8584692"/>
            <a:ext cx="182880" cy="1075943"/>
          </a:xfrm>
          <a:prstGeom prst="rect">
            <a:avLst/>
          </a:prstGeom>
          <a:solidFill>
            <a:srgbClr val="8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D6E3FB2A-F2A1-95C9-6CF6-C02B9FDBC361}"/>
              </a:ext>
            </a:extLst>
          </p:cNvPr>
          <p:cNvSpPr/>
          <p:nvPr/>
        </p:nvSpPr>
        <p:spPr>
          <a:xfrm>
            <a:off x="22201630" y="9697212"/>
            <a:ext cx="10475027" cy="1075943"/>
          </a:xfrm>
          <a:prstGeom prst="rect">
            <a:avLst/>
          </a:prstGeom>
          <a:solidFill>
            <a:srgbClr val="FFFFFF"/>
          </a:solidFill>
          <a:ln w="19050">
            <a:solidFill>
              <a:srgbClr val="C24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D46AB08A-E7DF-BAED-DAD5-7970957C3EA0}"/>
              </a:ext>
            </a:extLst>
          </p:cNvPr>
          <p:cNvSpPr/>
          <p:nvPr/>
        </p:nvSpPr>
        <p:spPr>
          <a:xfrm>
            <a:off x="22201631" y="9697212"/>
            <a:ext cx="182880" cy="1075943"/>
          </a:xfrm>
          <a:prstGeom prst="rect">
            <a:avLst/>
          </a:prstGeom>
          <a:solidFill>
            <a:srgbClr val="C24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6CC60EC2-527D-B753-3FB0-66542AF493FF}"/>
              </a:ext>
            </a:extLst>
          </p:cNvPr>
          <p:cNvSpPr/>
          <p:nvPr/>
        </p:nvSpPr>
        <p:spPr>
          <a:xfrm>
            <a:off x="22201630" y="10809732"/>
            <a:ext cx="10475027" cy="1075943"/>
          </a:xfrm>
          <a:prstGeom prst="rect">
            <a:avLst/>
          </a:prstGeom>
          <a:solidFill>
            <a:srgbClr val="FFFFFF"/>
          </a:solidFill>
          <a:ln w="19050">
            <a:solidFill>
              <a:srgbClr val="216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BC3C76D-C5A6-EBD1-E9C2-C9997000FD5D}"/>
              </a:ext>
            </a:extLst>
          </p:cNvPr>
          <p:cNvSpPr/>
          <p:nvPr/>
        </p:nvSpPr>
        <p:spPr>
          <a:xfrm>
            <a:off x="22201631" y="10809732"/>
            <a:ext cx="182880" cy="1075943"/>
          </a:xfrm>
          <a:prstGeom prst="rect">
            <a:avLst/>
          </a:prstGeom>
          <a:solidFill>
            <a:srgbClr val="216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9B5770C2-0FEF-E758-5772-298F49C2CF5F}"/>
              </a:ext>
            </a:extLst>
          </p:cNvPr>
          <p:cNvSpPr/>
          <p:nvPr/>
        </p:nvSpPr>
        <p:spPr>
          <a:xfrm>
            <a:off x="22201630" y="11922251"/>
            <a:ext cx="10475027" cy="1075943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93B0E91D-14D6-B745-C3E2-54EC55252D68}"/>
              </a:ext>
            </a:extLst>
          </p:cNvPr>
          <p:cNvSpPr/>
          <p:nvPr/>
        </p:nvSpPr>
        <p:spPr>
          <a:xfrm>
            <a:off x="22201631" y="11922251"/>
            <a:ext cx="182880" cy="1075943"/>
          </a:xfrm>
          <a:prstGeom prst="rect">
            <a:avLst/>
          </a:prstGeom>
          <a:solidFill>
            <a:srgbClr val="2D6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38D3102D-6B4B-A218-7D24-B50FF0A96946}"/>
              </a:ext>
            </a:extLst>
          </p:cNvPr>
          <p:cNvSpPr txBox="1"/>
          <p:nvPr/>
        </p:nvSpPr>
        <p:spPr>
          <a:xfrm>
            <a:off x="22459188" y="6451091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8421"/>
                </a:solidFill>
                <a:latin typeface="Cambria"/>
              </a:rPr>
              <a:t>C0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7C959438-65E9-468C-8D4A-B819B083D72D}"/>
              </a:ext>
            </a:extLst>
          </p:cNvPr>
          <p:cNvSpPr txBox="1"/>
          <p:nvPr/>
        </p:nvSpPr>
        <p:spPr>
          <a:xfrm>
            <a:off x="23190708" y="6451091"/>
            <a:ext cx="74295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81F"/>
                </a:solidFill>
                <a:latin typeface="Cambria"/>
              </a:rPr>
              <a:t>Rule-Flagged Evader</a:t>
            </a:r>
          </a:p>
        </p:txBody>
      </p:sp>
      <p:sp>
        <p:nvSpPr>
          <p:cNvPr id="701" name="TextBox 700">
            <a:extLst>
              <a:ext uri="{FF2B5EF4-FFF2-40B4-BE49-F238E27FC236}">
                <a16:creationId xmlns:a16="http://schemas.microsoft.com/office/drawing/2014/main" id="{34075232-99E9-284F-A7F5-BD5AB1555ABB}"/>
              </a:ext>
            </a:extLst>
          </p:cNvPr>
          <p:cNvSpPr txBox="1"/>
          <p:nvPr/>
        </p:nvSpPr>
        <p:spPr>
          <a:xfrm>
            <a:off x="30528768" y="645109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 dirty="0">
                <a:solidFill>
                  <a:srgbClr val="C08421"/>
                </a:solidFill>
                <a:latin typeface="Cambria"/>
              </a:rPr>
              <a:t>7,136</a:t>
            </a: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07B3258D-24D7-F735-54C7-7DD7314C5158}"/>
              </a:ext>
            </a:extLst>
          </p:cNvPr>
          <p:cNvSpPr txBox="1"/>
          <p:nvPr/>
        </p:nvSpPr>
        <p:spPr>
          <a:xfrm>
            <a:off x="22459188" y="6816851"/>
            <a:ext cx="100812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86F7A"/>
                </a:solidFill>
                <a:latin typeface="Cambria"/>
              </a:rPr>
              <a:t>Score: 0.416  |  Rule A: 58.9%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8E5DFD37-E4BC-133B-CB21-8D12D3D7800F}"/>
              </a:ext>
            </a:extLst>
          </p:cNvPr>
          <p:cNvSpPr txBox="1"/>
          <p:nvPr/>
        </p:nvSpPr>
        <p:spPr>
          <a:xfrm>
            <a:off x="22459188" y="7136891"/>
            <a:ext cx="100812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D323B"/>
                </a:solidFill>
                <a:latin typeface="Cambria"/>
              </a:rPr>
              <a:t>Peak-hour evasion (58.3% peak fast ratio)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33F8B1E2-602B-D4D6-F4AC-C1F905D76A1E}"/>
              </a:ext>
            </a:extLst>
          </p:cNvPr>
          <p:cNvSpPr txBox="1"/>
          <p:nvPr/>
        </p:nvSpPr>
        <p:spPr>
          <a:xfrm>
            <a:off x="22459188" y="7563611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12A4D"/>
                </a:solidFill>
                <a:latin typeface="Cambria"/>
              </a:rPr>
              <a:t>C1</a:t>
            </a: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A4A59BD6-6179-3C43-E13D-B296697872F2}"/>
              </a:ext>
            </a:extLst>
          </p:cNvPr>
          <p:cNvSpPr txBox="1"/>
          <p:nvPr/>
        </p:nvSpPr>
        <p:spPr>
          <a:xfrm>
            <a:off x="23190708" y="7563611"/>
            <a:ext cx="74295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81F"/>
                </a:solidFill>
                <a:latin typeface="Cambria"/>
              </a:rPr>
              <a:t>HMM-Novel Anomaly</a:t>
            </a: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EB71AB1D-DF20-C581-C2FE-BCC1202FD0CD}"/>
              </a:ext>
            </a:extLst>
          </p:cNvPr>
          <p:cNvSpPr txBox="1"/>
          <p:nvPr/>
        </p:nvSpPr>
        <p:spPr>
          <a:xfrm>
            <a:off x="30528768" y="756361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 dirty="0">
                <a:solidFill>
                  <a:srgbClr val="B12A4D"/>
                </a:solidFill>
                <a:latin typeface="Cambria"/>
              </a:rPr>
              <a:t>12,606</a:t>
            </a:r>
          </a:p>
        </p:txBody>
      </p:sp>
      <p:sp>
        <p:nvSpPr>
          <p:cNvPr id="707" name="TextBox 706">
            <a:extLst>
              <a:ext uri="{FF2B5EF4-FFF2-40B4-BE49-F238E27FC236}">
                <a16:creationId xmlns:a16="http://schemas.microsoft.com/office/drawing/2014/main" id="{C2DC60E9-D7B8-20DC-3166-F56F52224F9D}"/>
              </a:ext>
            </a:extLst>
          </p:cNvPr>
          <p:cNvSpPr txBox="1"/>
          <p:nvPr/>
        </p:nvSpPr>
        <p:spPr>
          <a:xfrm>
            <a:off x="22459188" y="7929371"/>
            <a:ext cx="100812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86F7A"/>
                </a:solidFill>
                <a:latin typeface="Cambria"/>
              </a:rPr>
              <a:t>Score: 0.331  |  Rule A: 3.1%</a:t>
            </a:r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DFF0046D-D0B8-986F-F9A0-CF7E80C2807F}"/>
              </a:ext>
            </a:extLst>
          </p:cNvPr>
          <p:cNvSpPr txBox="1"/>
          <p:nvPr/>
        </p:nvSpPr>
        <p:spPr>
          <a:xfrm>
            <a:off x="22459188" y="8249411"/>
            <a:ext cx="100812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D323B"/>
                </a:solidFill>
                <a:latin typeface="Cambria"/>
              </a:rPr>
              <a:t>83.9% are novel riders — primary validation target</a:t>
            </a:r>
          </a:p>
        </p:txBody>
      </p:sp>
      <p:sp>
        <p:nvSpPr>
          <p:cNvPr id="709" name="TextBox 708">
            <a:extLst>
              <a:ext uri="{FF2B5EF4-FFF2-40B4-BE49-F238E27FC236}">
                <a16:creationId xmlns:a16="http://schemas.microsoft.com/office/drawing/2014/main" id="{1A05110F-21EB-9E5F-D22A-EEA431DA7F38}"/>
              </a:ext>
            </a:extLst>
          </p:cNvPr>
          <p:cNvSpPr txBox="1"/>
          <p:nvPr/>
        </p:nvSpPr>
        <p:spPr>
          <a:xfrm>
            <a:off x="22459188" y="8676131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B1A2A"/>
                </a:solidFill>
                <a:latin typeface="Cambria"/>
              </a:rPr>
              <a:t>C2</a:t>
            </a:r>
          </a:p>
        </p:txBody>
      </p:sp>
      <p:sp>
        <p:nvSpPr>
          <p:cNvPr id="710" name="TextBox 709">
            <a:extLst>
              <a:ext uri="{FF2B5EF4-FFF2-40B4-BE49-F238E27FC236}">
                <a16:creationId xmlns:a16="http://schemas.microsoft.com/office/drawing/2014/main" id="{A054CCFC-CC46-B7F5-3F73-56F9D0FD7997}"/>
              </a:ext>
            </a:extLst>
          </p:cNvPr>
          <p:cNvSpPr txBox="1"/>
          <p:nvPr/>
        </p:nvSpPr>
        <p:spPr>
          <a:xfrm>
            <a:off x="23190708" y="8676131"/>
            <a:ext cx="74295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81F"/>
                </a:solidFill>
                <a:latin typeface="Cambria"/>
              </a:rPr>
              <a:t>Confirmed Evader</a:t>
            </a:r>
          </a:p>
        </p:txBody>
      </p:sp>
      <p:sp>
        <p:nvSpPr>
          <p:cNvPr id="711" name="TextBox 710">
            <a:extLst>
              <a:ext uri="{FF2B5EF4-FFF2-40B4-BE49-F238E27FC236}">
                <a16:creationId xmlns:a16="http://schemas.microsoft.com/office/drawing/2014/main" id="{4E3F4D63-D9B8-9D27-31F3-09A7CE627B88}"/>
              </a:ext>
            </a:extLst>
          </p:cNvPr>
          <p:cNvSpPr txBox="1"/>
          <p:nvPr/>
        </p:nvSpPr>
        <p:spPr>
          <a:xfrm>
            <a:off x="30528768" y="867613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8B1A2A"/>
                </a:solidFill>
                <a:latin typeface="Cambria"/>
              </a:rPr>
              <a:t>10,122</a:t>
            </a:r>
          </a:p>
        </p:txBody>
      </p:sp>
      <p:sp>
        <p:nvSpPr>
          <p:cNvPr id="712" name="TextBox 711">
            <a:extLst>
              <a:ext uri="{FF2B5EF4-FFF2-40B4-BE49-F238E27FC236}">
                <a16:creationId xmlns:a16="http://schemas.microsoft.com/office/drawing/2014/main" id="{E837F2B9-BCE4-3C40-DB59-10A663A3C294}"/>
              </a:ext>
            </a:extLst>
          </p:cNvPr>
          <p:cNvSpPr txBox="1"/>
          <p:nvPr/>
        </p:nvSpPr>
        <p:spPr>
          <a:xfrm>
            <a:off x="22459188" y="9041891"/>
            <a:ext cx="100812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86F7A"/>
                </a:solidFill>
                <a:latin typeface="Cambria"/>
              </a:rPr>
              <a:t>Score: 0.585  |  Rule A: 100%</a:t>
            </a:r>
          </a:p>
        </p:txBody>
      </p:sp>
      <p:sp>
        <p:nvSpPr>
          <p:cNvPr id="713" name="TextBox 712">
            <a:extLst>
              <a:ext uri="{FF2B5EF4-FFF2-40B4-BE49-F238E27FC236}">
                <a16:creationId xmlns:a16="http://schemas.microsoft.com/office/drawing/2014/main" id="{96EDEC6F-6A61-73B6-83F4-63E1C0209F0C}"/>
              </a:ext>
            </a:extLst>
          </p:cNvPr>
          <p:cNvSpPr txBox="1"/>
          <p:nvPr/>
        </p:nvSpPr>
        <p:spPr>
          <a:xfrm>
            <a:off x="22459188" y="9361931"/>
            <a:ext cx="100812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D323B"/>
                </a:solidFill>
                <a:latin typeface="Cambria"/>
              </a:rPr>
              <a:t>58 fast events avg, 162-day span, 29.2 km spread</a:t>
            </a:r>
          </a:p>
        </p:txBody>
      </p:sp>
      <p:sp>
        <p:nvSpPr>
          <p:cNvPr id="714" name="TextBox 713">
            <a:extLst>
              <a:ext uri="{FF2B5EF4-FFF2-40B4-BE49-F238E27FC236}">
                <a16:creationId xmlns:a16="http://schemas.microsoft.com/office/drawing/2014/main" id="{C9CA26C1-9FF0-3C1B-CA36-487BA8BE45DA}"/>
              </a:ext>
            </a:extLst>
          </p:cNvPr>
          <p:cNvSpPr txBox="1"/>
          <p:nvPr/>
        </p:nvSpPr>
        <p:spPr>
          <a:xfrm>
            <a:off x="22459188" y="9788651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24D1F"/>
                </a:solidFill>
                <a:latin typeface="Cambria"/>
              </a:rPr>
              <a:t>C3</a:t>
            </a:r>
          </a:p>
        </p:txBody>
      </p:sp>
      <p:sp>
        <p:nvSpPr>
          <p:cNvPr id="715" name="TextBox 714">
            <a:extLst>
              <a:ext uri="{FF2B5EF4-FFF2-40B4-BE49-F238E27FC236}">
                <a16:creationId xmlns:a16="http://schemas.microsoft.com/office/drawing/2014/main" id="{7B76F492-69A8-0EA8-BE93-EFF00EA61A74}"/>
              </a:ext>
            </a:extLst>
          </p:cNvPr>
          <p:cNvSpPr txBox="1"/>
          <p:nvPr/>
        </p:nvSpPr>
        <p:spPr>
          <a:xfrm>
            <a:off x="23190708" y="9788651"/>
            <a:ext cx="74295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81F"/>
                </a:solidFill>
                <a:latin typeface="Cambria"/>
              </a:rPr>
              <a:t>Large Evader Pool</a:t>
            </a:r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07ADF31C-562F-FD0F-2FE5-74617D0D9AFA}"/>
              </a:ext>
            </a:extLst>
          </p:cNvPr>
          <p:cNvSpPr txBox="1"/>
          <p:nvPr/>
        </p:nvSpPr>
        <p:spPr>
          <a:xfrm>
            <a:off x="30528768" y="978865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24D1F"/>
                </a:solidFill>
                <a:latin typeface="Cambria"/>
              </a:rPr>
              <a:t>22,199</a:t>
            </a: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2228F2D6-FA3B-5BEB-80B9-13D425885621}"/>
              </a:ext>
            </a:extLst>
          </p:cNvPr>
          <p:cNvSpPr txBox="1"/>
          <p:nvPr/>
        </p:nvSpPr>
        <p:spPr>
          <a:xfrm>
            <a:off x="22459188" y="10154411"/>
            <a:ext cx="100812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86F7A"/>
                </a:solidFill>
                <a:latin typeface="Cambria"/>
              </a:rPr>
              <a:t>Score: 0.534  |  Rule A: 97.6%</a:t>
            </a: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F1DE33BF-EF2C-3923-3652-E42410D52E81}"/>
              </a:ext>
            </a:extLst>
          </p:cNvPr>
          <p:cNvSpPr txBox="1"/>
          <p:nvPr/>
        </p:nvSpPr>
        <p:spPr>
          <a:xfrm>
            <a:off x="22459188" y="10474451"/>
            <a:ext cx="100812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D323B"/>
                </a:solidFill>
                <a:latin typeface="Cambria"/>
              </a:rPr>
              <a:t>Largest cluster, highest susp_pct (0.942)</a:t>
            </a:r>
          </a:p>
        </p:txBody>
      </p:sp>
      <p:sp>
        <p:nvSpPr>
          <p:cNvPr id="719" name="TextBox 718">
            <a:extLst>
              <a:ext uri="{FF2B5EF4-FFF2-40B4-BE49-F238E27FC236}">
                <a16:creationId xmlns:a16="http://schemas.microsoft.com/office/drawing/2014/main" id="{4B31347D-E06D-6287-F1D7-11B2AE7D394C}"/>
              </a:ext>
            </a:extLst>
          </p:cNvPr>
          <p:cNvSpPr txBox="1"/>
          <p:nvPr/>
        </p:nvSpPr>
        <p:spPr>
          <a:xfrm>
            <a:off x="22459188" y="10901171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16F3F"/>
                </a:solidFill>
                <a:latin typeface="Cambria"/>
              </a:rPr>
              <a:t>C4</a:t>
            </a:r>
          </a:p>
        </p:txBody>
      </p:sp>
      <p:sp>
        <p:nvSpPr>
          <p:cNvPr id="720" name="TextBox 719">
            <a:extLst>
              <a:ext uri="{FF2B5EF4-FFF2-40B4-BE49-F238E27FC236}">
                <a16:creationId xmlns:a16="http://schemas.microsoft.com/office/drawing/2014/main" id="{A1BE0401-3F99-5074-77F6-8BB16C414339}"/>
              </a:ext>
            </a:extLst>
          </p:cNvPr>
          <p:cNvSpPr txBox="1"/>
          <p:nvPr/>
        </p:nvSpPr>
        <p:spPr>
          <a:xfrm>
            <a:off x="23190708" y="10901171"/>
            <a:ext cx="74295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81F"/>
                </a:solidFill>
                <a:latin typeface="Cambria"/>
              </a:rPr>
              <a:t>HMM-Discordant</a:t>
            </a: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CC4AFDEE-A436-8330-D8A7-0198680E6F62}"/>
              </a:ext>
            </a:extLst>
          </p:cNvPr>
          <p:cNvSpPr txBox="1"/>
          <p:nvPr/>
        </p:nvSpPr>
        <p:spPr>
          <a:xfrm>
            <a:off x="30528768" y="1090117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216F3F"/>
                </a:solidFill>
                <a:latin typeface="Cambria"/>
              </a:rPr>
              <a:t>8,644</a:t>
            </a:r>
          </a:p>
        </p:txBody>
      </p:sp>
      <p:sp>
        <p:nvSpPr>
          <p:cNvPr id="722" name="TextBox 721">
            <a:extLst>
              <a:ext uri="{FF2B5EF4-FFF2-40B4-BE49-F238E27FC236}">
                <a16:creationId xmlns:a16="http://schemas.microsoft.com/office/drawing/2014/main" id="{A576F1EA-4005-B036-951A-47CDA3DBCCCE}"/>
              </a:ext>
            </a:extLst>
          </p:cNvPr>
          <p:cNvSpPr txBox="1"/>
          <p:nvPr/>
        </p:nvSpPr>
        <p:spPr>
          <a:xfrm>
            <a:off x="22459188" y="11266930"/>
            <a:ext cx="100812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86F7A"/>
                </a:solidFill>
                <a:latin typeface="Cambria"/>
              </a:rPr>
              <a:t>Score: 0.399  |  Rule A: 92.2%</a:t>
            </a: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27DE7D5A-B67D-6FEE-14EE-A7B7C3B25CC7}"/>
              </a:ext>
            </a:extLst>
          </p:cNvPr>
          <p:cNvSpPr txBox="1"/>
          <p:nvPr/>
        </p:nvSpPr>
        <p:spPr>
          <a:xfrm>
            <a:off x="22459188" y="11586971"/>
            <a:ext cx="100812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D323B"/>
                </a:solidFill>
                <a:latin typeface="Cambria"/>
              </a:rPr>
              <a:t>Possible false positives (117s mean gap, 0.249 susp)</a:t>
            </a:r>
          </a:p>
        </p:txBody>
      </p:sp>
      <p:sp>
        <p:nvSpPr>
          <p:cNvPr id="724" name="TextBox 723">
            <a:extLst>
              <a:ext uri="{FF2B5EF4-FFF2-40B4-BE49-F238E27FC236}">
                <a16:creationId xmlns:a16="http://schemas.microsoft.com/office/drawing/2014/main" id="{7AD098B6-5242-9895-FF34-DDF3B20A595D}"/>
              </a:ext>
            </a:extLst>
          </p:cNvPr>
          <p:cNvSpPr txBox="1"/>
          <p:nvPr/>
        </p:nvSpPr>
        <p:spPr>
          <a:xfrm>
            <a:off x="22459188" y="12013691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D6A7C"/>
                </a:solidFill>
                <a:latin typeface="Cambria"/>
              </a:rPr>
              <a:t>C5</a:t>
            </a:r>
          </a:p>
        </p:txBody>
      </p:sp>
      <p:sp>
        <p:nvSpPr>
          <p:cNvPr id="725" name="TextBox 724">
            <a:extLst>
              <a:ext uri="{FF2B5EF4-FFF2-40B4-BE49-F238E27FC236}">
                <a16:creationId xmlns:a16="http://schemas.microsoft.com/office/drawing/2014/main" id="{57D1AA24-9B72-6921-E038-828B3AEF40F2}"/>
              </a:ext>
            </a:extLst>
          </p:cNvPr>
          <p:cNvSpPr txBox="1"/>
          <p:nvPr/>
        </p:nvSpPr>
        <p:spPr>
          <a:xfrm>
            <a:off x="23190708" y="12013691"/>
            <a:ext cx="74295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81F"/>
                </a:solidFill>
                <a:latin typeface="Cambria"/>
              </a:rPr>
              <a:t>Inspector-Reactive</a:t>
            </a:r>
          </a:p>
        </p:txBody>
      </p:sp>
      <p:sp>
        <p:nvSpPr>
          <p:cNvPr id="726" name="TextBox 725">
            <a:extLst>
              <a:ext uri="{FF2B5EF4-FFF2-40B4-BE49-F238E27FC236}">
                <a16:creationId xmlns:a16="http://schemas.microsoft.com/office/drawing/2014/main" id="{151F275B-0551-B5D5-3E08-E1B1FA0A3E7D}"/>
              </a:ext>
            </a:extLst>
          </p:cNvPr>
          <p:cNvSpPr txBox="1"/>
          <p:nvPr/>
        </p:nvSpPr>
        <p:spPr>
          <a:xfrm>
            <a:off x="30528768" y="1201369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2D6A7C"/>
                </a:solidFill>
                <a:latin typeface="Cambria"/>
              </a:rPr>
              <a:t>1,162</a:t>
            </a:r>
          </a:p>
        </p:txBody>
      </p:sp>
      <p:sp>
        <p:nvSpPr>
          <p:cNvPr id="727" name="TextBox 726">
            <a:extLst>
              <a:ext uri="{FF2B5EF4-FFF2-40B4-BE49-F238E27FC236}">
                <a16:creationId xmlns:a16="http://schemas.microsoft.com/office/drawing/2014/main" id="{81A08182-4808-5254-59EE-19A73313E85D}"/>
              </a:ext>
            </a:extLst>
          </p:cNvPr>
          <p:cNvSpPr txBox="1"/>
          <p:nvPr/>
        </p:nvSpPr>
        <p:spPr>
          <a:xfrm>
            <a:off x="22459188" y="12379450"/>
            <a:ext cx="100812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86F7A"/>
                </a:solidFill>
                <a:latin typeface="Cambria"/>
              </a:rPr>
              <a:t>Score: 0.365  |  Rule A: 0.1%</a:t>
            </a: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5C492DA8-B120-ADCD-9938-0BA062507C2E}"/>
              </a:ext>
            </a:extLst>
          </p:cNvPr>
          <p:cNvSpPr txBox="1"/>
          <p:nvPr/>
        </p:nvSpPr>
        <p:spPr>
          <a:xfrm>
            <a:off x="22459188" y="12699491"/>
            <a:ext cx="100812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>
                <a:solidFill>
                  <a:srgbClr val="2D323B"/>
                </a:solidFill>
                <a:latin typeface="Cambria"/>
              </a:rPr>
              <a:t>Gaming score 1.639, invisible to Pattern</a:t>
            </a:r>
          </a:p>
        </p:txBody>
      </p:sp>
      <p:sp>
        <p:nvSpPr>
          <p:cNvPr id="730" name="Rectangle 729">
            <a:extLst>
              <a:ext uri="{FF2B5EF4-FFF2-40B4-BE49-F238E27FC236}">
                <a16:creationId xmlns:a16="http://schemas.microsoft.com/office/drawing/2014/main" id="{C6651609-186A-F434-1B58-CD91EB248777}"/>
              </a:ext>
            </a:extLst>
          </p:cNvPr>
          <p:cNvSpPr/>
          <p:nvPr/>
        </p:nvSpPr>
        <p:spPr>
          <a:xfrm>
            <a:off x="22082760" y="13442022"/>
            <a:ext cx="10812780" cy="498007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/>
              </a:rPr>
              <a:t>            </a:t>
            </a:r>
          </a:p>
          <a:p>
            <a:r>
              <a:rPr lang="en-US" sz="2400" b="1" dirty="0">
                <a:solidFill>
                  <a:srgbClr val="FFFFFF"/>
                </a:solidFill>
                <a:latin typeface="Cambria"/>
              </a:rPr>
              <a:t>                K-6 CLUSTER GRAPH &amp; UMAP</a:t>
            </a:r>
          </a:p>
          <a:p>
            <a:pPr algn="ctr"/>
            <a:endParaRPr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EF01BA4-C0A2-DC80-8CD3-867A4EF20B50}"/>
              </a:ext>
            </a:extLst>
          </p:cNvPr>
          <p:cNvGrpSpPr/>
          <p:nvPr/>
        </p:nvGrpSpPr>
        <p:grpSpPr>
          <a:xfrm>
            <a:off x="22033992" y="13498209"/>
            <a:ext cx="813816" cy="502920"/>
            <a:chOff x="22046184" y="13681830"/>
            <a:chExt cx="813816" cy="502920"/>
          </a:xfrm>
        </p:grpSpPr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EE3546AC-B7A3-FA9B-3A2F-0AADA877902F}"/>
                </a:ext>
              </a:extLst>
            </p:cNvPr>
            <p:cNvSpPr/>
            <p:nvPr/>
          </p:nvSpPr>
          <p:spPr>
            <a:xfrm>
              <a:off x="22082760" y="13681830"/>
              <a:ext cx="777240" cy="502920"/>
            </a:xfrm>
            <a:prstGeom prst="rect">
              <a:avLst/>
            </a:prstGeom>
            <a:solidFill>
              <a:srgbClr val="1426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7" name="TextBox 736">
              <a:extLst>
                <a:ext uri="{FF2B5EF4-FFF2-40B4-BE49-F238E27FC236}">
                  <a16:creationId xmlns:a16="http://schemas.microsoft.com/office/drawing/2014/main" id="{64AF1FDA-2B02-C4AA-41BE-ABE1627C077D}"/>
                </a:ext>
              </a:extLst>
            </p:cNvPr>
            <p:cNvSpPr txBox="1"/>
            <p:nvPr/>
          </p:nvSpPr>
          <p:spPr>
            <a:xfrm>
              <a:off x="22046184" y="13800159"/>
              <a:ext cx="777240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09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0069DC-20D6-DFEB-99C2-B2681B55B1E9}"/>
              </a:ext>
            </a:extLst>
          </p:cNvPr>
          <p:cNvGrpSpPr/>
          <p:nvPr/>
        </p:nvGrpSpPr>
        <p:grpSpPr>
          <a:xfrm>
            <a:off x="33042050" y="23726784"/>
            <a:ext cx="10606736" cy="596946"/>
            <a:chOff x="31859525" y="20637116"/>
            <a:chExt cx="11565331" cy="502920"/>
          </a:xfrm>
        </p:grpSpPr>
        <p:sp>
          <p:nvSpPr>
            <p:cNvPr id="273" name="Rectangle 272"/>
            <p:cNvSpPr/>
            <p:nvPr/>
          </p:nvSpPr>
          <p:spPr>
            <a:xfrm>
              <a:off x="32883445" y="20637116"/>
              <a:ext cx="10538460" cy="502920"/>
            </a:xfrm>
            <a:prstGeom prst="rect">
              <a:avLst/>
            </a:prstGeom>
            <a:solidFill>
              <a:srgbClr val="2D6A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9" name="TextBox 738">
              <a:extLst>
                <a:ext uri="{FF2B5EF4-FFF2-40B4-BE49-F238E27FC236}">
                  <a16:creationId xmlns:a16="http://schemas.microsoft.com/office/drawing/2014/main" id="{DC087325-76BA-3643-F97B-1A273318AD88}"/>
                </a:ext>
              </a:extLst>
            </p:cNvPr>
            <p:cNvSpPr txBox="1"/>
            <p:nvPr/>
          </p:nvSpPr>
          <p:spPr>
            <a:xfrm>
              <a:off x="31859525" y="20722829"/>
              <a:ext cx="777240" cy="31115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12</a:t>
              </a:r>
            </a:p>
          </p:txBody>
        </p:sp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6D5E47CE-2271-B5EF-55E4-4BCFD98A7394}"/>
                </a:ext>
              </a:extLst>
            </p:cNvPr>
            <p:cNvSpPr txBox="1"/>
            <p:nvPr/>
          </p:nvSpPr>
          <p:spPr>
            <a:xfrm>
              <a:off x="33800796" y="20732997"/>
              <a:ext cx="9624060" cy="31115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CONCLUSION &amp; RECOMMENDATIONS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5E4A735-670B-47EB-26C9-F22505B78361}"/>
              </a:ext>
            </a:extLst>
          </p:cNvPr>
          <p:cNvGrpSpPr/>
          <p:nvPr/>
        </p:nvGrpSpPr>
        <p:grpSpPr>
          <a:xfrm>
            <a:off x="32959548" y="25827163"/>
            <a:ext cx="11370563" cy="1218649"/>
            <a:chOff x="32986980" y="22455647"/>
            <a:chExt cx="10617353" cy="1218649"/>
          </a:xfrm>
        </p:grpSpPr>
        <p:sp>
          <p:nvSpPr>
            <p:cNvPr id="279" name="Rectangle 278"/>
            <p:cNvSpPr/>
            <p:nvPr/>
          </p:nvSpPr>
          <p:spPr>
            <a:xfrm>
              <a:off x="32986980" y="22455647"/>
              <a:ext cx="10172700" cy="121864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8B1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sz="2800"/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32986980" y="22455647"/>
              <a:ext cx="667512" cy="1218649"/>
            </a:xfrm>
            <a:prstGeom prst="rect">
              <a:avLst/>
            </a:prstGeom>
            <a:solidFill>
              <a:srgbClr val="8B1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>
                  <a:solidFill>
                    <a:srgbClr val="FFFFFF"/>
                  </a:solidFill>
                  <a:latin typeface="Cambria"/>
                </a:rPr>
                <a:t>C2</a:t>
              </a:r>
              <a:endParaRPr sz="2800" dirty="0"/>
            </a:p>
          </p:txBody>
        </p:sp>
        <p:sp>
          <p:nvSpPr>
            <p:cNvPr id="747" name="TextBox 746">
              <a:extLst>
                <a:ext uri="{FF2B5EF4-FFF2-40B4-BE49-F238E27FC236}">
                  <a16:creationId xmlns:a16="http://schemas.microsoft.com/office/drawing/2014/main" id="{520CD8C1-6A99-1D8C-B8C1-D5E438E3A68D}"/>
                </a:ext>
              </a:extLst>
            </p:cNvPr>
            <p:cNvSpPr txBox="1"/>
            <p:nvPr/>
          </p:nvSpPr>
          <p:spPr>
            <a:xfrm>
              <a:off x="33672780" y="22550545"/>
              <a:ext cx="237744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b="1" i="0" dirty="0">
                  <a:solidFill>
                    <a:srgbClr val="8B1A2A"/>
                  </a:solidFill>
                  <a:latin typeface="Cambria"/>
                </a:rPr>
                <a:t>IMMEDIATE ACTION</a:t>
              </a:r>
            </a:p>
          </p:txBody>
        </p:sp>
        <p:sp>
          <p:nvSpPr>
            <p:cNvPr id="748" name="TextBox 747">
              <a:extLst>
                <a:ext uri="{FF2B5EF4-FFF2-40B4-BE49-F238E27FC236}">
                  <a16:creationId xmlns:a16="http://schemas.microsoft.com/office/drawing/2014/main" id="{9CF043AF-6930-58A9-2468-888F05BE77BF}"/>
                </a:ext>
              </a:extLst>
            </p:cNvPr>
            <p:cNvSpPr txBox="1"/>
            <p:nvPr/>
          </p:nvSpPr>
          <p:spPr>
            <a:xfrm>
              <a:off x="34025993" y="22859247"/>
              <a:ext cx="957834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0" i="0" dirty="0">
                  <a:solidFill>
                    <a:srgbClr val="2D323B"/>
                  </a:solidFill>
                  <a:latin typeface="Cambria"/>
                </a:rPr>
                <a:t>Deploy targeted inspection on high-density routes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2A301F8-267D-75F3-FB4D-247115D2213C}"/>
              </a:ext>
            </a:extLst>
          </p:cNvPr>
          <p:cNvGrpSpPr/>
          <p:nvPr/>
        </p:nvGrpSpPr>
        <p:grpSpPr>
          <a:xfrm>
            <a:off x="32959547" y="27045812"/>
            <a:ext cx="11693653" cy="1218649"/>
            <a:chOff x="32986980" y="23788316"/>
            <a:chExt cx="10689238" cy="1218649"/>
          </a:xfrm>
        </p:grpSpPr>
        <p:sp>
          <p:nvSpPr>
            <p:cNvPr id="284" name="Rectangle 283"/>
            <p:cNvSpPr/>
            <p:nvPr/>
          </p:nvSpPr>
          <p:spPr>
            <a:xfrm>
              <a:off x="32986980" y="23788316"/>
              <a:ext cx="10172700" cy="121864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12A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sz="2800"/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32986980" y="23788316"/>
              <a:ext cx="680212" cy="1218649"/>
            </a:xfrm>
            <a:prstGeom prst="rect">
              <a:avLst/>
            </a:prstGeom>
            <a:solidFill>
              <a:srgbClr val="B12A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"/>
                </a:rPr>
                <a:t>C1</a:t>
              </a:r>
            </a:p>
          </p:txBody>
        </p:sp>
        <p:sp>
          <p:nvSpPr>
            <p:cNvPr id="751" name="TextBox 750">
              <a:extLst>
                <a:ext uri="{FF2B5EF4-FFF2-40B4-BE49-F238E27FC236}">
                  <a16:creationId xmlns:a16="http://schemas.microsoft.com/office/drawing/2014/main" id="{39527E7E-7674-49D4-DF4A-2A74DF1A654F}"/>
                </a:ext>
              </a:extLst>
            </p:cNvPr>
            <p:cNvSpPr txBox="1"/>
            <p:nvPr/>
          </p:nvSpPr>
          <p:spPr>
            <a:xfrm>
              <a:off x="34097878" y="24267434"/>
              <a:ext cx="957834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0" i="0" dirty="0">
                  <a:solidFill>
                    <a:srgbClr val="2D323B"/>
                  </a:solidFill>
                  <a:latin typeface="Cambria"/>
                </a:rPr>
                <a:t>Validate 83.9% novel population — genuine evaders or false positives?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4F92E53-1052-42E2-C6CB-DCAA9EC3BB9B}"/>
              </a:ext>
            </a:extLst>
          </p:cNvPr>
          <p:cNvGrpSpPr/>
          <p:nvPr/>
        </p:nvGrpSpPr>
        <p:grpSpPr>
          <a:xfrm>
            <a:off x="32959548" y="28234419"/>
            <a:ext cx="11922252" cy="1218649"/>
            <a:chOff x="32986980" y="25111732"/>
            <a:chExt cx="11153755" cy="1218649"/>
          </a:xfrm>
        </p:grpSpPr>
        <p:sp>
          <p:nvSpPr>
            <p:cNvPr id="289" name="Rectangle 288"/>
            <p:cNvSpPr/>
            <p:nvPr/>
          </p:nvSpPr>
          <p:spPr>
            <a:xfrm>
              <a:off x="32986980" y="25111732"/>
              <a:ext cx="10172700" cy="121864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84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sz="2800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32986980" y="25111732"/>
              <a:ext cx="667512" cy="1218649"/>
            </a:xfrm>
            <a:prstGeom prst="rect">
              <a:avLst/>
            </a:prstGeom>
            <a:solidFill>
              <a:srgbClr val="C084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>
                  <a:solidFill>
                    <a:srgbClr val="FFFFFF"/>
                  </a:solidFill>
                  <a:latin typeface="Cambria"/>
                </a:rPr>
                <a:t>C0</a:t>
              </a:r>
              <a:endParaRPr sz="2800" dirty="0"/>
            </a:p>
          </p:txBody>
        </p:sp>
        <p:sp>
          <p:nvSpPr>
            <p:cNvPr id="754" name="TextBox 753">
              <a:extLst>
                <a:ext uri="{FF2B5EF4-FFF2-40B4-BE49-F238E27FC236}">
                  <a16:creationId xmlns:a16="http://schemas.microsoft.com/office/drawing/2014/main" id="{2E3901D1-8974-E48D-1779-34A49D5E37C6}"/>
                </a:ext>
              </a:extLst>
            </p:cNvPr>
            <p:cNvSpPr txBox="1"/>
            <p:nvPr/>
          </p:nvSpPr>
          <p:spPr>
            <a:xfrm>
              <a:off x="33901380" y="25263487"/>
              <a:ext cx="237744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b="1" i="0" dirty="0">
                  <a:solidFill>
                    <a:srgbClr val="C08421"/>
                  </a:solidFill>
                  <a:latin typeface="Cambria"/>
                </a:rPr>
                <a:t>PEAK ENFORCEMENT</a:t>
              </a:r>
            </a:p>
          </p:txBody>
        </p:sp>
        <p:sp>
          <p:nvSpPr>
            <p:cNvPr id="755" name="TextBox 754">
              <a:extLst>
                <a:ext uri="{FF2B5EF4-FFF2-40B4-BE49-F238E27FC236}">
                  <a16:creationId xmlns:a16="http://schemas.microsoft.com/office/drawing/2014/main" id="{AFCD5FB5-AB1D-B8F1-B2E4-D534321C3524}"/>
                </a:ext>
              </a:extLst>
            </p:cNvPr>
            <p:cNvSpPr txBox="1"/>
            <p:nvPr/>
          </p:nvSpPr>
          <p:spPr>
            <a:xfrm>
              <a:off x="34562395" y="25613769"/>
              <a:ext cx="957834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0" i="0" dirty="0">
                  <a:solidFill>
                    <a:srgbClr val="2D323B"/>
                  </a:solidFill>
                  <a:latin typeface="Cambria"/>
                </a:rPr>
                <a:t>Focus inspectors on peak-hour commuter trains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D3EB977-C6CA-5A01-FB1C-EFE5B1603B75}"/>
              </a:ext>
            </a:extLst>
          </p:cNvPr>
          <p:cNvGrpSpPr/>
          <p:nvPr/>
        </p:nvGrpSpPr>
        <p:grpSpPr>
          <a:xfrm>
            <a:off x="32959548" y="29535456"/>
            <a:ext cx="11693652" cy="1341799"/>
            <a:chOff x="32974280" y="28069272"/>
            <a:chExt cx="10739871" cy="1424187"/>
          </a:xfrm>
        </p:grpSpPr>
        <p:sp>
          <p:nvSpPr>
            <p:cNvPr id="294" name="Rectangle 293"/>
            <p:cNvSpPr/>
            <p:nvPr/>
          </p:nvSpPr>
          <p:spPr>
            <a:xfrm>
              <a:off x="33001712" y="28274810"/>
              <a:ext cx="10172700" cy="121864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D6A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sz="2800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A31829F-D3F3-3716-9E8E-8E22457E781E}"/>
                </a:ext>
              </a:extLst>
            </p:cNvPr>
            <p:cNvGrpSpPr/>
            <p:nvPr/>
          </p:nvGrpSpPr>
          <p:grpSpPr>
            <a:xfrm>
              <a:off x="32974280" y="28069272"/>
              <a:ext cx="10739871" cy="1218649"/>
              <a:chOff x="32986980" y="26380349"/>
              <a:chExt cx="10739871" cy="1218649"/>
            </a:xfrm>
          </p:grpSpPr>
          <p:sp>
            <p:nvSpPr>
              <p:cNvPr id="295" name="Rectangle 294"/>
              <p:cNvSpPr/>
              <p:nvPr/>
            </p:nvSpPr>
            <p:spPr>
              <a:xfrm>
                <a:off x="32986980" y="26380349"/>
                <a:ext cx="667512" cy="1218649"/>
              </a:xfrm>
              <a:prstGeom prst="rect">
                <a:avLst/>
              </a:prstGeom>
              <a:solidFill>
                <a:srgbClr val="2D6A7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800" b="1" dirty="0">
                    <a:solidFill>
                      <a:srgbClr val="FFFFFF"/>
                    </a:solidFill>
                    <a:latin typeface="Cambria"/>
                  </a:rPr>
                  <a:t>C5</a:t>
                </a:r>
              </a:p>
            </p:txBody>
          </p:sp>
          <p:sp>
            <p:nvSpPr>
              <p:cNvPr id="756" name="TextBox 755">
                <a:extLst>
                  <a:ext uri="{FF2B5EF4-FFF2-40B4-BE49-F238E27FC236}">
                    <a16:creationId xmlns:a16="http://schemas.microsoft.com/office/drawing/2014/main" id="{3E09D9BD-852E-7534-9D43-8A4CBAA1BE92}"/>
                  </a:ext>
                </a:extLst>
              </p:cNvPr>
              <p:cNvSpPr txBox="1"/>
              <p:nvPr/>
            </p:nvSpPr>
            <p:spPr>
              <a:xfrm>
                <a:off x="33907645" y="26702450"/>
                <a:ext cx="23774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b="1" i="0" dirty="0">
                    <a:solidFill>
                      <a:srgbClr val="2D6A7C"/>
                    </a:solidFill>
                    <a:latin typeface="Cambria"/>
                  </a:rPr>
                  <a:t>MONITOR</a:t>
                </a:r>
              </a:p>
            </p:txBody>
          </p:sp>
          <p:sp>
            <p:nvSpPr>
              <p:cNvPr id="757" name="TextBox 756">
                <a:extLst>
                  <a:ext uri="{FF2B5EF4-FFF2-40B4-BE49-F238E27FC236}">
                    <a16:creationId xmlns:a16="http://schemas.microsoft.com/office/drawing/2014/main" id="{B1651363-9D9D-400B-A862-C38FCE13C75C}"/>
                  </a:ext>
                </a:extLst>
              </p:cNvPr>
              <p:cNvSpPr txBox="1"/>
              <p:nvPr/>
            </p:nvSpPr>
            <p:spPr>
              <a:xfrm>
                <a:off x="34148511" y="27074033"/>
                <a:ext cx="957834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600" b="0" i="0" dirty="0">
                    <a:solidFill>
                      <a:srgbClr val="2D323B"/>
                    </a:solidFill>
                    <a:latin typeface="Cambria"/>
                  </a:rPr>
                  <a:t>Inspector-reactive activators — invisible to Pattern</a:t>
                </a: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B9272DA-C48C-0BD5-475A-C238DE9E3D9B}"/>
              </a:ext>
            </a:extLst>
          </p:cNvPr>
          <p:cNvGrpSpPr/>
          <p:nvPr/>
        </p:nvGrpSpPr>
        <p:grpSpPr>
          <a:xfrm>
            <a:off x="32986979" y="30892634"/>
            <a:ext cx="11343131" cy="1218649"/>
            <a:chOff x="32986980" y="27694703"/>
            <a:chExt cx="10640568" cy="1218649"/>
          </a:xfrm>
        </p:grpSpPr>
        <p:sp>
          <p:nvSpPr>
            <p:cNvPr id="299" name="Rectangle 298"/>
            <p:cNvSpPr/>
            <p:nvPr/>
          </p:nvSpPr>
          <p:spPr>
            <a:xfrm>
              <a:off x="32986980" y="27694703"/>
              <a:ext cx="10172700" cy="121864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16F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sz="2800"/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32986980" y="27694703"/>
              <a:ext cx="652780" cy="1218649"/>
            </a:xfrm>
            <a:prstGeom prst="rect">
              <a:avLst/>
            </a:prstGeom>
            <a:solidFill>
              <a:srgbClr val="216F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"/>
                </a:rPr>
                <a:t>C4</a:t>
              </a:r>
            </a:p>
          </p:txBody>
        </p:sp>
        <p:sp>
          <p:nvSpPr>
            <p:cNvPr id="760" name="TextBox 759">
              <a:extLst>
                <a:ext uri="{FF2B5EF4-FFF2-40B4-BE49-F238E27FC236}">
                  <a16:creationId xmlns:a16="http://schemas.microsoft.com/office/drawing/2014/main" id="{24096277-9436-8B14-4856-8C4BB02DDA90}"/>
                </a:ext>
              </a:extLst>
            </p:cNvPr>
            <p:cNvSpPr txBox="1"/>
            <p:nvPr/>
          </p:nvSpPr>
          <p:spPr>
            <a:xfrm>
              <a:off x="33672780" y="27724980"/>
              <a:ext cx="237744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b="1" i="0">
                  <a:solidFill>
                    <a:srgbClr val="216F3F"/>
                  </a:solidFill>
                  <a:latin typeface="Cambria"/>
                </a:rPr>
                <a:t>INVESTIGATE</a:t>
              </a:r>
            </a:p>
          </p:txBody>
        </p:sp>
        <p:sp>
          <p:nvSpPr>
            <p:cNvPr id="761" name="TextBox 760">
              <a:extLst>
                <a:ext uri="{FF2B5EF4-FFF2-40B4-BE49-F238E27FC236}">
                  <a16:creationId xmlns:a16="http://schemas.microsoft.com/office/drawing/2014/main" id="{FAB00623-150F-67D1-F79B-80FC5F1CF8D4}"/>
                </a:ext>
              </a:extLst>
            </p:cNvPr>
            <p:cNvSpPr txBox="1"/>
            <p:nvPr/>
          </p:nvSpPr>
          <p:spPr>
            <a:xfrm>
              <a:off x="34049208" y="28043992"/>
              <a:ext cx="957834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0" i="0" dirty="0">
                  <a:solidFill>
                    <a:srgbClr val="2D323B"/>
                  </a:solidFill>
                  <a:latin typeface="Cambria"/>
                </a:rPr>
                <a:t>Possible false positives — Pattern may be over-flagging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9DB37D7-3A7A-6B7C-A52E-6E473D5E0CCF}"/>
              </a:ext>
            </a:extLst>
          </p:cNvPr>
          <p:cNvGrpSpPr/>
          <p:nvPr/>
        </p:nvGrpSpPr>
        <p:grpSpPr>
          <a:xfrm>
            <a:off x="33191857" y="6081039"/>
            <a:ext cx="10385044" cy="473169"/>
            <a:chOff x="33251140" y="8014630"/>
            <a:chExt cx="10385044" cy="473169"/>
          </a:xfrm>
        </p:grpSpPr>
        <p:sp>
          <p:nvSpPr>
            <p:cNvPr id="764" name="TextBox 763">
              <a:extLst>
                <a:ext uri="{FF2B5EF4-FFF2-40B4-BE49-F238E27FC236}">
                  <a16:creationId xmlns:a16="http://schemas.microsoft.com/office/drawing/2014/main" id="{6F52F731-9136-0AFA-0F0F-AD9EEC6E5804}"/>
                </a:ext>
              </a:extLst>
            </p:cNvPr>
            <p:cNvSpPr txBox="1"/>
            <p:nvPr/>
          </p:nvSpPr>
          <p:spPr>
            <a:xfrm>
              <a:off x="33251140" y="8064745"/>
              <a:ext cx="3141980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FFFFFF"/>
                  </a:solidFill>
                  <a:latin typeface="Cambria"/>
                </a:rPr>
                <a:t>Capability</a:t>
              </a:r>
            </a:p>
          </p:txBody>
        </p:sp>
        <p:sp>
          <p:nvSpPr>
            <p:cNvPr id="765" name="TextBox 764">
              <a:extLst>
                <a:ext uri="{FF2B5EF4-FFF2-40B4-BE49-F238E27FC236}">
                  <a16:creationId xmlns:a16="http://schemas.microsoft.com/office/drawing/2014/main" id="{5F85271B-1B04-85C0-44D1-05B706FF3B79}"/>
                </a:ext>
              </a:extLst>
            </p:cNvPr>
            <p:cNvSpPr txBox="1"/>
            <p:nvPr/>
          </p:nvSpPr>
          <p:spPr>
            <a:xfrm>
              <a:off x="38587680" y="8118467"/>
              <a:ext cx="2023364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Pattern Rules</a:t>
              </a:r>
            </a:p>
          </p:txBody>
        </p:sp>
        <p:sp>
          <p:nvSpPr>
            <p:cNvPr id="766" name="TextBox 765">
              <a:extLst>
                <a:ext uri="{FF2B5EF4-FFF2-40B4-BE49-F238E27FC236}">
                  <a16:creationId xmlns:a16="http://schemas.microsoft.com/office/drawing/2014/main" id="{D369D0A6-A534-79E2-C367-789A5A4E3988}"/>
                </a:ext>
              </a:extLst>
            </p:cNvPr>
            <p:cNvSpPr txBox="1"/>
            <p:nvPr/>
          </p:nvSpPr>
          <p:spPr>
            <a:xfrm>
              <a:off x="40873680" y="8014630"/>
              <a:ext cx="2762504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 dirty="0">
                  <a:solidFill>
                    <a:srgbClr val="C00000"/>
                  </a:solidFill>
                  <a:latin typeface="Cambria"/>
                </a:rPr>
                <a:t>ML Pipeline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30034B9-38EE-79CD-7224-107AB157EC3B}"/>
              </a:ext>
            </a:extLst>
          </p:cNvPr>
          <p:cNvGrpSpPr/>
          <p:nvPr/>
        </p:nvGrpSpPr>
        <p:grpSpPr>
          <a:xfrm>
            <a:off x="32960671" y="5441252"/>
            <a:ext cx="11026709" cy="502920"/>
            <a:chOff x="32169038" y="7264012"/>
            <a:chExt cx="11356402" cy="502920"/>
          </a:xfrm>
        </p:grpSpPr>
        <p:sp>
          <p:nvSpPr>
            <p:cNvPr id="206" name="Rectangle 205"/>
            <p:cNvSpPr/>
            <p:nvPr/>
          </p:nvSpPr>
          <p:spPr>
            <a:xfrm>
              <a:off x="32986980" y="7264012"/>
              <a:ext cx="10538460" cy="502920"/>
            </a:xfrm>
            <a:prstGeom prst="rect">
              <a:avLst/>
            </a:prstGeom>
            <a:solidFill>
              <a:srgbClr val="2D6A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3" name="TextBox 792">
              <a:extLst>
                <a:ext uri="{FF2B5EF4-FFF2-40B4-BE49-F238E27FC236}">
                  <a16:creationId xmlns:a16="http://schemas.microsoft.com/office/drawing/2014/main" id="{CF4A626A-3ED8-9577-8731-77C7E1EC35C5}"/>
                </a:ext>
              </a:extLst>
            </p:cNvPr>
            <p:cNvSpPr txBox="1"/>
            <p:nvPr/>
          </p:nvSpPr>
          <p:spPr>
            <a:xfrm>
              <a:off x="32169038" y="7315985"/>
              <a:ext cx="777240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10</a:t>
              </a:r>
            </a:p>
          </p:txBody>
        </p:sp>
        <p:sp>
          <p:nvSpPr>
            <p:cNvPr id="794" name="TextBox 793">
              <a:extLst>
                <a:ext uri="{FF2B5EF4-FFF2-40B4-BE49-F238E27FC236}">
                  <a16:creationId xmlns:a16="http://schemas.microsoft.com/office/drawing/2014/main" id="{9CAC42FB-9543-0711-97DC-4FDE184C1D5B}"/>
                </a:ext>
              </a:extLst>
            </p:cNvPr>
            <p:cNvSpPr txBox="1"/>
            <p:nvPr/>
          </p:nvSpPr>
          <p:spPr>
            <a:xfrm>
              <a:off x="33880213" y="7361118"/>
              <a:ext cx="9624060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PATTERN VS OUR PIPELINE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26BCD3C-E2F9-2D82-16F8-0F2129F85487}"/>
              </a:ext>
            </a:extLst>
          </p:cNvPr>
          <p:cNvGrpSpPr/>
          <p:nvPr/>
        </p:nvGrpSpPr>
        <p:grpSpPr>
          <a:xfrm>
            <a:off x="-533400" y="18937755"/>
            <a:ext cx="11740893" cy="7481552"/>
            <a:chOff x="-466117" y="17466491"/>
            <a:chExt cx="11740893" cy="7481552"/>
          </a:xfrm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3CAC6DCD-9A82-5FD9-65C9-2B34B43C8463}"/>
                </a:ext>
              </a:extLst>
            </p:cNvPr>
            <p:cNvSpPr/>
            <p:nvPr/>
          </p:nvSpPr>
          <p:spPr>
            <a:xfrm>
              <a:off x="-26467" y="17471725"/>
              <a:ext cx="777240" cy="590206"/>
            </a:xfrm>
            <a:prstGeom prst="rect">
              <a:avLst/>
            </a:prstGeom>
            <a:solidFill>
              <a:srgbClr val="1426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9EB8D84-7B91-E2AD-0692-FAB785B5D4B4}"/>
                </a:ext>
              </a:extLst>
            </p:cNvPr>
            <p:cNvGrpSpPr/>
            <p:nvPr/>
          </p:nvGrpSpPr>
          <p:grpSpPr>
            <a:xfrm>
              <a:off x="-466117" y="17466491"/>
              <a:ext cx="11740893" cy="7481552"/>
              <a:chOff x="-472339" y="16136143"/>
              <a:chExt cx="11740893" cy="6414401"/>
            </a:xfrm>
          </p:grpSpPr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9DDD2855-1B80-16DE-0C03-1E2030C99A1F}"/>
                  </a:ext>
                </a:extLst>
              </p:cNvPr>
              <p:cNvSpPr/>
              <p:nvPr/>
            </p:nvSpPr>
            <p:spPr>
              <a:xfrm>
                <a:off x="730094" y="16136143"/>
                <a:ext cx="10538460" cy="502920"/>
              </a:xfrm>
              <a:prstGeom prst="rect">
                <a:avLst/>
              </a:prstGeom>
              <a:solidFill>
                <a:srgbClr val="2C5A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DATASETS</a:t>
                </a:r>
                <a:endParaRPr sz="24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80" name="TextBox 379">
                <a:extLst>
                  <a:ext uri="{FF2B5EF4-FFF2-40B4-BE49-F238E27FC236}">
                    <a16:creationId xmlns:a16="http://schemas.microsoft.com/office/drawing/2014/main" id="{49D9517E-BCC0-9F80-A051-F553F8A92AAF}"/>
                  </a:ext>
                </a:extLst>
              </p:cNvPr>
              <p:cNvSpPr txBox="1"/>
              <p:nvPr/>
            </p:nvSpPr>
            <p:spPr>
              <a:xfrm>
                <a:off x="-472339" y="16172627"/>
                <a:ext cx="1054105" cy="31665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00" b="1" i="0" dirty="0">
                    <a:solidFill>
                      <a:srgbClr val="FFFFFF"/>
                    </a:solidFill>
                    <a:latin typeface="Cambria"/>
                  </a:rPr>
                  <a:t>04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D001240-E0F9-8BF7-43A5-04CC2D9486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2102" y="16646651"/>
                <a:ext cx="10864997" cy="5903893"/>
              </a:xfrm>
              <a:prstGeom prst="rect">
                <a:avLst/>
              </a:prstGeom>
            </p:spPr>
          </p:pic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EC3F844-FE8D-62FE-682F-0D91EA049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03" y="9220200"/>
            <a:ext cx="10846709" cy="7426452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E78BF616-D03A-42AC-F501-6C39AAFA2118}"/>
              </a:ext>
            </a:extLst>
          </p:cNvPr>
          <p:cNvGrpSpPr/>
          <p:nvPr/>
        </p:nvGrpSpPr>
        <p:grpSpPr>
          <a:xfrm>
            <a:off x="11207493" y="12470892"/>
            <a:ext cx="10646667" cy="7197158"/>
            <a:chOff x="11207493" y="12470892"/>
            <a:chExt cx="10646667" cy="719715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12221B7-ADD1-6E38-33D7-5792C8183330}"/>
                </a:ext>
              </a:extLst>
            </p:cNvPr>
            <p:cNvGrpSpPr/>
            <p:nvPr/>
          </p:nvGrpSpPr>
          <p:grpSpPr>
            <a:xfrm>
              <a:off x="11315700" y="12470892"/>
              <a:ext cx="10538460" cy="502920"/>
              <a:chOff x="11264983" y="15551033"/>
              <a:chExt cx="10538460" cy="502920"/>
            </a:xfrm>
          </p:grpSpPr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DD6F243F-0294-DF93-2E12-96BF7867D418}"/>
                  </a:ext>
                </a:extLst>
              </p:cNvPr>
              <p:cNvSpPr/>
              <p:nvPr/>
            </p:nvSpPr>
            <p:spPr>
              <a:xfrm>
                <a:off x="11264983" y="15551033"/>
                <a:ext cx="10538460" cy="502920"/>
              </a:xfrm>
              <a:prstGeom prst="rect">
                <a:avLst/>
              </a:prstGeom>
              <a:solidFill>
                <a:srgbClr val="1F3A5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332DD0D7-2C1B-A384-EAB0-5143176C7409}"/>
                  </a:ext>
                </a:extLst>
              </p:cNvPr>
              <p:cNvSpPr txBox="1"/>
              <p:nvPr/>
            </p:nvSpPr>
            <p:spPr>
              <a:xfrm>
                <a:off x="11288268" y="15618327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00" b="1" i="0" dirty="0">
                    <a:solidFill>
                      <a:srgbClr val="FFFFFF"/>
                    </a:solidFill>
                    <a:latin typeface="Cambria"/>
                  </a:rPr>
                  <a:t>07</a:t>
                </a:r>
              </a:p>
            </p:txBody>
          </p:sp>
        </p:grpSp>
        <p:sp>
          <p:nvSpPr>
            <p:cNvPr id="581" name="TextBox 580">
              <a:extLst>
                <a:ext uri="{FF2B5EF4-FFF2-40B4-BE49-F238E27FC236}">
                  <a16:creationId xmlns:a16="http://schemas.microsoft.com/office/drawing/2014/main" id="{A12C4EA5-E0DC-2CC8-8B3B-C600A5F7EF2E}"/>
                </a:ext>
              </a:extLst>
            </p:cNvPr>
            <p:cNvSpPr txBox="1"/>
            <p:nvPr/>
          </p:nvSpPr>
          <p:spPr>
            <a:xfrm>
              <a:off x="12230100" y="12485608"/>
              <a:ext cx="7548372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mbria"/>
                </a:rPr>
                <a:t>HMM NOVELTY — WHAT PATTERN MISSES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8DC2844D-8E9E-9804-082B-61E2FAEDB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07493" y="12916140"/>
              <a:ext cx="10465586" cy="6751910"/>
            </a:xfrm>
            <a:prstGeom prst="rect">
              <a:avLst/>
            </a:prstGeom>
          </p:spPr>
        </p:pic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9B41A3BB-A101-796A-D379-81D6FD4074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1148" y="20992661"/>
            <a:ext cx="10209276" cy="5142158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98DD6FEE-9C19-C10D-E0C7-D94270948853}"/>
              </a:ext>
            </a:extLst>
          </p:cNvPr>
          <p:cNvSpPr/>
          <p:nvPr/>
        </p:nvSpPr>
        <p:spPr>
          <a:xfrm>
            <a:off x="11361420" y="20599155"/>
            <a:ext cx="10476121" cy="489830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BAYESIAN INFORMATION CRITERION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MODEL SELECTION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6823359-8C67-68EC-0814-8D394D6E7640}"/>
              </a:ext>
            </a:extLst>
          </p:cNvPr>
          <p:cNvSpPr/>
          <p:nvPr/>
        </p:nvSpPr>
        <p:spPr>
          <a:xfrm>
            <a:off x="11160252" y="5319401"/>
            <a:ext cx="166878" cy="2695734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7123463-6912-0100-AE0B-416AB34B7723}"/>
              </a:ext>
            </a:extLst>
          </p:cNvPr>
          <p:cNvSpPr/>
          <p:nvPr/>
        </p:nvSpPr>
        <p:spPr>
          <a:xfrm>
            <a:off x="21837541" y="5349240"/>
            <a:ext cx="153779" cy="2689093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828CBC1-FF6A-09A1-D226-469C644CB2E2}"/>
              </a:ext>
            </a:extLst>
          </p:cNvPr>
          <p:cNvSpPr/>
          <p:nvPr/>
        </p:nvSpPr>
        <p:spPr>
          <a:xfrm>
            <a:off x="32824057" y="5315830"/>
            <a:ext cx="153779" cy="2689093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EEBFAFDB-FBE2-51C4-14E6-3BF42DC1DA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19336" y="20537648"/>
            <a:ext cx="10379776" cy="55522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8DFE4A71-2B6C-FD6F-01C5-EF4C3B76FB05}"/>
              </a:ext>
            </a:extLst>
          </p:cNvPr>
          <p:cNvSpPr/>
          <p:nvPr/>
        </p:nvSpPr>
        <p:spPr>
          <a:xfrm>
            <a:off x="22082760" y="20212813"/>
            <a:ext cx="10416352" cy="324835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Six behavioral signatures among anomalous riders</a:t>
            </a:r>
            <a:endParaRPr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96EEBB41-BD8B-8773-2EC3-308BF415C7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01630" y="26479969"/>
            <a:ext cx="10297482" cy="572679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B032727-DAAA-9847-5204-4861815F4D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75748" y="6649644"/>
            <a:ext cx="10601228" cy="7820255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69BE3C4C-DCFC-AC8B-0C2B-5168E19E2A5D}"/>
              </a:ext>
            </a:extLst>
          </p:cNvPr>
          <p:cNvSpPr txBox="1"/>
          <p:nvPr/>
        </p:nvSpPr>
        <p:spPr>
          <a:xfrm>
            <a:off x="33800796" y="27186757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B12A4D"/>
                </a:solidFill>
                <a:latin typeface="Cambria"/>
              </a:rPr>
              <a:t>Human Validation</a:t>
            </a:r>
            <a:endParaRPr sz="2000" b="1" i="0" dirty="0">
              <a:solidFill>
                <a:srgbClr val="B12A4D"/>
              </a:solidFill>
              <a:latin typeface="Cambria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7A00A82E-43BB-6B93-2C98-848B52AF4C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86980" y="15114435"/>
            <a:ext cx="10769217" cy="851132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AC8A1821-9BD4-29DD-0A78-B2BBDC5202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82272" y="26476984"/>
            <a:ext cx="9543288" cy="5509561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B56A3B9E-3B79-193B-5E7F-25B4B143B266}"/>
              </a:ext>
            </a:extLst>
          </p:cNvPr>
          <p:cNvSpPr/>
          <p:nvPr/>
        </p:nvSpPr>
        <p:spPr>
          <a:xfrm>
            <a:off x="11338986" y="26300244"/>
            <a:ext cx="10498556" cy="489830"/>
          </a:xfrm>
          <a:prstGeom prst="rect">
            <a:avLst/>
          </a:prstGeom>
          <a:solidFill>
            <a:srgbClr val="1F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POSTERIOR DOMINANCE SCORING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03C4FC9-C42A-2F31-3A59-D1A1EEF3A808}"/>
              </a:ext>
            </a:extLst>
          </p:cNvPr>
          <p:cNvSpPr/>
          <p:nvPr/>
        </p:nvSpPr>
        <p:spPr>
          <a:xfrm>
            <a:off x="35461383" y="3761350"/>
            <a:ext cx="73152" cy="1371600"/>
          </a:xfrm>
          <a:prstGeom prst="rect">
            <a:avLst/>
          </a:prstGeom>
          <a:solidFill>
            <a:srgbClr val="C8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DCC59A0-AD2E-66D6-F42D-CC51BC6C7026}"/>
              </a:ext>
            </a:extLst>
          </p:cNvPr>
          <p:cNvSpPr txBox="1"/>
          <p:nvPr/>
        </p:nvSpPr>
        <p:spPr>
          <a:xfrm>
            <a:off x="34822418" y="3823245"/>
            <a:ext cx="664768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2D6A7C"/>
                </a:solidFill>
                <a:latin typeface="Cambria"/>
              </a:rPr>
              <a:t>221,720</a:t>
            </a:r>
            <a:endParaRPr sz="4000" b="1" i="0" dirty="0">
              <a:solidFill>
                <a:srgbClr val="2D6A7C"/>
              </a:solidFill>
              <a:latin typeface="Cambri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55B1E31-52BA-091E-AA39-922CA8932A3B}"/>
              </a:ext>
            </a:extLst>
          </p:cNvPr>
          <p:cNvSpPr txBox="1"/>
          <p:nvPr/>
        </p:nvSpPr>
        <p:spPr>
          <a:xfrm>
            <a:off x="35497959" y="4449959"/>
            <a:ext cx="56846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6181F"/>
                </a:solidFill>
                <a:latin typeface="Cambria"/>
              </a:rPr>
              <a:t>riders entering the system</a:t>
            </a:r>
            <a:endParaRPr sz="2400" b="1" i="0" dirty="0">
              <a:solidFill>
                <a:srgbClr val="16181F"/>
              </a:solidFill>
              <a:latin typeface="Cambria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A4C339F-5E6E-1772-E026-3E4F28C1A661}"/>
              </a:ext>
            </a:extLst>
          </p:cNvPr>
          <p:cNvSpPr/>
          <p:nvPr/>
        </p:nvSpPr>
        <p:spPr>
          <a:xfrm>
            <a:off x="43476317" y="3741521"/>
            <a:ext cx="73152" cy="1371600"/>
          </a:xfrm>
          <a:prstGeom prst="rect">
            <a:avLst/>
          </a:prstGeom>
          <a:solidFill>
            <a:srgbClr val="2D6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6FA824-1F61-566B-AE27-E9119A7B1D42}"/>
              </a:ext>
            </a:extLst>
          </p:cNvPr>
          <p:cNvSpPr/>
          <p:nvPr/>
        </p:nvSpPr>
        <p:spPr>
          <a:xfrm>
            <a:off x="-155448" y="5315829"/>
            <a:ext cx="178241" cy="2760257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3F2F3E5-FC08-BF7D-3C90-98E24171FE70}"/>
              </a:ext>
            </a:extLst>
          </p:cNvPr>
          <p:cNvSpPr/>
          <p:nvPr/>
        </p:nvSpPr>
        <p:spPr>
          <a:xfrm>
            <a:off x="43852210" y="5381251"/>
            <a:ext cx="194081" cy="2753714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89c76f5-ca15-41f9-884b-55ec15a0672a}" enabled="0" method="" siteId="{589c76f5-ca15-41f9-884b-55ec15a067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727</Words>
  <Application>Microsoft Office PowerPoint</Application>
  <PresentationFormat>Custom</PresentationFormat>
  <Paragraphs>140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Duah</dc:creator>
  <cp:keywords/>
  <dc:description>generated using python-pptx</dc:description>
  <cp:lastModifiedBy>Daniel Duah</cp:lastModifiedBy>
  <cp:revision>55</cp:revision>
  <dcterms:created xsi:type="dcterms:W3CDTF">2013-01-27T09:14:16Z</dcterms:created>
  <dcterms:modified xsi:type="dcterms:W3CDTF">2026-04-29T23:39:19Z</dcterms:modified>
  <cp:category/>
</cp:coreProperties>
</file>