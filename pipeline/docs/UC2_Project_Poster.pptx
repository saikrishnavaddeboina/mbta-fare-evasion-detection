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0" cy="4572000"/>
          </a:xfrm>
          <a:prstGeom prst="rect">
            <a:avLst/>
          </a:prstGeom>
          <a:solidFill>
            <a:srgbClr val="12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00" y="0"/>
            <a:ext cx="14630400" cy="45720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3891200" cy="50292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43891200" cy="9144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42062400" cy="173736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0" b="1" i="0">
                <a:solidFill>
                  <a:srgbClr val="FFFFFF"/>
                </a:solidFill>
                <a:latin typeface="Georgia"/>
              </a:rPr>
              <a:t>Inspector-Triggered Ticket-Purchase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80360"/>
            <a:ext cx="42062400" cy="91440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0" i="1">
                <a:solidFill>
                  <a:srgbClr val="CADCFC"/>
                </a:solidFill>
                <a:latin typeface="Georgia"/>
              </a:rPr>
              <a:t>A Hidden Markov Model pipeline over 20 GB of mobile-ticketing 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0" y="3886200"/>
            <a:ext cx="14630400" cy="54864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206240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Team 2  ·  Daniel Duah  ·  Kofi Sarfo  ·  Martin Thulani Milanzi  ·  Sai Krishna Vaddeboina  ·  Sai Priya Malyala      WPI MS Fintech · BUS 6550 Capstone · Sponsors: Masabi × Gemsen · April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68046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320040" cy="29260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166360"/>
            <a:ext cx="6210300" cy="18288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122447"/>
                </a:solidFill>
                <a:latin typeface="Georgia"/>
              </a:rPr>
              <a:t>20 GB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6903720"/>
            <a:ext cx="6210300" cy="8229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raw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56220" y="4937760"/>
            <a:ext cx="68046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56220" y="4937760"/>
            <a:ext cx="320040" cy="29260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3420" y="5166360"/>
            <a:ext cx="6210300" cy="18288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122447"/>
                </a:solidFill>
                <a:latin typeface="Georgia"/>
              </a:rPr>
              <a:t>6.4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3420" y="6903720"/>
            <a:ext cx="6210300" cy="8229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activation events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980920" y="4937760"/>
            <a:ext cx="68046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980920" y="4937760"/>
            <a:ext cx="320040" cy="29260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438120" y="5166360"/>
            <a:ext cx="6210300" cy="18288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122447"/>
                </a:solidFill>
                <a:latin typeface="Georgia"/>
              </a:rPr>
              <a:t>98,241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438120" y="6903720"/>
            <a:ext cx="6210300" cy="8229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HMM-eligible riders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105620" y="4937760"/>
            <a:ext cx="68046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105620" y="4937760"/>
            <a:ext cx="320040" cy="29260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562820" y="5166360"/>
            <a:ext cx="6210300" cy="18288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122447"/>
                </a:solidFill>
                <a:latin typeface="Georgia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562820" y="6903720"/>
            <a:ext cx="6210300" cy="8229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latent states (BIC)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230320" y="4937760"/>
            <a:ext cx="68046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30320" y="4937760"/>
            <a:ext cx="320040" cy="29260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687520" y="5166360"/>
            <a:ext cx="6210300" cy="18288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122447"/>
                </a:solidFill>
                <a:latin typeface="Georgia"/>
              </a:rPr>
              <a:t>100 / 100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87520" y="6903720"/>
            <a:ext cx="6210300" cy="8229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rules ∩ HMM overlap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355020" y="4937760"/>
            <a:ext cx="680466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355020" y="4937760"/>
            <a:ext cx="320040" cy="29260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12220" y="5166360"/>
            <a:ext cx="6210300" cy="182880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122447"/>
                </a:solidFill>
                <a:latin typeface="Georgia"/>
              </a:rPr>
              <a:t>88,328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812220" y="6903720"/>
            <a:ext cx="6210300" cy="8229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595959"/>
                </a:solidFill>
                <a:latin typeface="Calibri"/>
              </a:rPr>
              <a:t>HMM-only candidate pool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8275320"/>
            <a:ext cx="13533120" cy="9326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" y="8275320"/>
            <a:ext cx="274320" cy="93268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20" y="845820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Research Questions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17320" y="932688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9692640"/>
            <a:ext cx="2194560" cy="228600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A6192E"/>
                </a:solidFill>
                <a:latin typeface="Georgia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9784080"/>
            <a:ext cx="10469880" cy="23317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2447"/>
                </a:solidFill>
                <a:latin typeface="Georgia"/>
              </a:rPr>
              <a:t>DESCRIPTIVE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111111"/>
                </a:solidFill>
                <a:latin typeface="Calibri"/>
              </a:rPr>
              <a:t>What does the activation-to-scan gap distribution look like, and is there a measurable sub-population below the fare-evasion cutoff?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12207240"/>
            <a:ext cx="2194560" cy="228600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A6192E"/>
                </a:solidFill>
                <a:latin typeface="Georgia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12298680"/>
            <a:ext cx="10469880" cy="23317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2447"/>
                </a:solidFill>
                <a:latin typeface="Georgia"/>
              </a:rPr>
              <a:t>MODELLING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111111"/>
                </a:solidFill>
                <a:latin typeface="Calibri"/>
              </a:rPr>
              <a:t>Can an HMM fit to per-rider symbol sequences identify a latent fraud-shaped state that rule heuristics miss, and how stable is that structure across model-selection choices?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20" y="14721840"/>
            <a:ext cx="2194560" cy="228600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 i="0">
                <a:solidFill>
                  <a:srgbClr val="A6192E"/>
                </a:solidFill>
                <a:latin typeface="Georgia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14813280"/>
            <a:ext cx="10469880" cy="23317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22447"/>
                </a:solidFill>
                <a:latin typeface="Georgia"/>
              </a:rPr>
              <a:t>VALIDATION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111111"/>
                </a:solidFill>
                <a:latin typeface="Calibri"/>
              </a:rPr>
              <a:t>Where do the two layers (rules and HMM) agree, and what unique population does each identify?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18013680"/>
            <a:ext cx="13533120" cy="7589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" y="18013680"/>
            <a:ext cx="274320" cy="758952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17320" y="1819656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Data Flow — Raw CSVs to Shortlist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17320" y="1906524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1417320" y="19476720"/>
            <a:ext cx="12527280" cy="960120"/>
          </a:xfrm>
          <a:prstGeom prst="chevron">
            <a:avLst/>
          </a:prstGeom>
          <a:solidFill>
            <a:srgbClr val="12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74520" y="19476720"/>
            <a:ext cx="502920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01  INGEST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19476720"/>
            <a:ext cx="676656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4 CSVs · 20 GB · 6.4 M events</a:t>
            </a:r>
          </a:p>
        </p:txBody>
      </p:sp>
      <p:sp>
        <p:nvSpPr>
          <p:cNvPr id="52" name="Chevron 51"/>
          <p:cNvSpPr/>
          <p:nvPr/>
        </p:nvSpPr>
        <p:spPr>
          <a:xfrm>
            <a:off x="1417320" y="20601432"/>
            <a:ext cx="12527280" cy="960120"/>
          </a:xfrm>
          <a:prstGeom prst="chevron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874520" y="20601432"/>
            <a:ext cx="502920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02  SYMBOLIZE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20601432"/>
            <a:ext cx="676656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7-symbol vocabulary per event</a:t>
            </a:r>
          </a:p>
        </p:txBody>
      </p:sp>
      <p:sp>
        <p:nvSpPr>
          <p:cNvPr id="55" name="Chevron 54"/>
          <p:cNvSpPr/>
          <p:nvPr/>
        </p:nvSpPr>
        <p:spPr>
          <a:xfrm>
            <a:off x="1417320" y="21726144"/>
            <a:ext cx="12527280" cy="960120"/>
          </a:xfrm>
          <a:prstGeom prst="chevron">
            <a:avLst/>
          </a:prstGeom>
          <a:solidFill>
            <a:srgbClr val="2E5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74520" y="21726144"/>
            <a:ext cx="502920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03  FIT HMM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21726144"/>
            <a:ext cx="676656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3 states × 8 seeds · BIC pick</a:t>
            </a:r>
          </a:p>
        </p:txBody>
      </p:sp>
      <p:sp>
        <p:nvSpPr>
          <p:cNvPr id="58" name="Chevron 57"/>
          <p:cNvSpPr/>
          <p:nvPr/>
        </p:nvSpPr>
        <p:spPr>
          <a:xfrm>
            <a:off x="1417320" y="22850856"/>
            <a:ext cx="12527280" cy="960120"/>
          </a:xfrm>
          <a:prstGeom prst="chevron">
            <a:avLst/>
          </a:prstGeom>
          <a:solidFill>
            <a:srgbClr val="7E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874520" y="22850856"/>
            <a:ext cx="502920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04  SCORE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22850856"/>
            <a:ext cx="676656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Posterior · rule · gaming · burst</a:t>
            </a:r>
          </a:p>
        </p:txBody>
      </p:sp>
      <p:sp>
        <p:nvSpPr>
          <p:cNvPr id="61" name="Chevron 60"/>
          <p:cNvSpPr/>
          <p:nvPr/>
        </p:nvSpPr>
        <p:spPr>
          <a:xfrm>
            <a:off x="1417320" y="23975568"/>
            <a:ext cx="12527280" cy="960120"/>
          </a:xfrm>
          <a:prstGeom prst="chevron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74520" y="23975568"/>
            <a:ext cx="502920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05  SHORTLIST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23975568"/>
            <a:ext cx="6766560" cy="9601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 ∩ H · H \ R supplementary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" y="26014680"/>
            <a:ext cx="135331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14400" y="26014680"/>
            <a:ext cx="274320" cy="489204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17320" y="2619756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Model Selection — BIC Across 24 Fits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17320" y="2706624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bic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679" y="27432000"/>
            <a:ext cx="4818561" cy="23774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1417320" y="29900880"/>
            <a:ext cx="12527280" cy="7315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595959"/>
                </a:solidFill>
                <a:latin typeface="Calibri"/>
              </a:rPr>
              <a:t>9 states, seed 6 · 31,000 BIC points clear of runner-up.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361920" y="8275320"/>
            <a:ext cx="13533120" cy="9509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361920" y="8275320"/>
            <a:ext cx="274320" cy="950976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864840" y="845820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Symbol Vocabulary (First-Match-Wins)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864840" y="932688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864840" y="9939528"/>
            <a:ext cx="685800" cy="685800"/>
          </a:xfrm>
          <a:prstGeom prst="ellipse">
            <a:avLst/>
          </a:prstGeom>
          <a:solidFill>
            <a:srgbClr val="A6192E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779240" y="973836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FAST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848320" y="973836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handheld scan ≤ 15 s</a:t>
            </a:r>
          </a:p>
        </p:txBody>
      </p:sp>
      <p:sp>
        <p:nvSpPr>
          <p:cNvPr id="77" name="Oval 76"/>
          <p:cNvSpPr/>
          <p:nvPr/>
        </p:nvSpPr>
        <p:spPr>
          <a:xfrm>
            <a:off x="15864840" y="10991088"/>
            <a:ext cx="685800" cy="685800"/>
          </a:xfrm>
          <a:prstGeom prst="ellipse">
            <a:avLst/>
          </a:prstGeom>
          <a:solidFill>
            <a:srgbClr val="7E1022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6779240" y="1078992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GAMING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848320" y="1078992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scan 16 – 30 s  (dodge band)</a:t>
            </a:r>
          </a:p>
        </p:txBody>
      </p:sp>
      <p:sp>
        <p:nvSpPr>
          <p:cNvPr id="80" name="Oval 79"/>
          <p:cNvSpPr/>
          <p:nvPr/>
        </p:nvSpPr>
        <p:spPr>
          <a:xfrm>
            <a:off x="15864840" y="12042648"/>
            <a:ext cx="685800" cy="685800"/>
          </a:xfrm>
          <a:prstGeom prst="ellipse">
            <a:avLst/>
          </a:prstGeom>
          <a:solidFill>
            <a:srgbClr val="2E5593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6779240" y="1184148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SLOW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848320" y="1184148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scan 30 – 300 s</a:t>
            </a:r>
          </a:p>
        </p:txBody>
      </p:sp>
      <p:sp>
        <p:nvSpPr>
          <p:cNvPr id="83" name="Oval 82"/>
          <p:cNvSpPr/>
          <p:nvPr/>
        </p:nvSpPr>
        <p:spPr>
          <a:xfrm>
            <a:off x="15864840" y="13094208"/>
            <a:ext cx="685800" cy="685800"/>
          </a:xfrm>
          <a:prstGeom prst="ellipse">
            <a:avLst/>
          </a:prstGeom>
          <a:solidFill>
            <a:srgbClr val="1F3A68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779240" y="1289304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GATE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848320" y="1289304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gate scan ≤ 120 s</a:t>
            </a:r>
          </a:p>
        </p:txBody>
      </p:sp>
      <p:sp>
        <p:nvSpPr>
          <p:cNvPr id="86" name="Oval 85"/>
          <p:cNvSpPr/>
          <p:nvPr/>
        </p:nvSpPr>
        <p:spPr>
          <a:xfrm>
            <a:off x="15864840" y="14145768"/>
            <a:ext cx="685800" cy="685800"/>
          </a:xfrm>
          <a:prstGeom prst="ellipse">
            <a:avLst/>
          </a:prstGeom>
          <a:solidFill>
            <a:srgbClr val="595959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779240" y="1394460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NO-FU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848320" y="1394460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no handheld or gate scan</a:t>
            </a:r>
          </a:p>
        </p:txBody>
      </p:sp>
      <p:sp>
        <p:nvSpPr>
          <p:cNvPr id="89" name="Oval 88"/>
          <p:cNvSpPr/>
          <p:nvPr/>
        </p:nvSpPr>
        <p:spPr>
          <a:xfrm>
            <a:off x="15864840" y="15197328"/>
            <a:ext cx="685800" cy="685800"/>
          </a:xfrm>
          <a:prstGeom prst="ellipse">
            <a:avLst/>
          </a:prstGeom>
          <a:solidFill>
            <a:srgbClr val="B5B5B5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779240" y="1499616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OTHER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848320" y="1499616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fall-through catch-all</a:t>
            </a:r>
          </a:p>
        </p:txBody>
      </p:sp>
      <p:sp>
        <p:nvSpPr>
          <p:cNvPr id="92" name="Oval 91"/>
          <p:cNvSpPr/>
          <p:nvPr/>
        </p:nvSpPr>
        <p:spPr>
          <a:xfrm>
            <a:off x="15864840" y="16248888"/>
            <a:ext cx="685800" cy="685800"/>
          </a:xfrm>
          <a:prstGeom prst="ellipse">
            <a:avLst/>
          </a:prstGeom>
          <a:solidFill>
            <a:srgbClr val="D4A037"/>
          </a:solidFill>
          <a:ln w="15875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779240" y="16047720"/>
            <a:ext cx="402336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22447"/>
                </a:solidFill>
                <a:latin typeface="Georgia"/>
              </a:rPr>
              <a:t>PURCHASE→FAST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848320" y="16047720"/>
            <a:ext cx="7543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buy ≤ 60 s before activation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361920" y="18196560"/>
            <a:ext cx="13533120" cy="777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5361920" y="18196560"/>
            <a:ext cx="274320" cy="7772400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5864840" y="1837944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Fitted HMM · 9 States × 7 Symbols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5864840" y="1924812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emission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3319" y="19613880"/>
            <a:ext cx="10490322" cy="5257800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15864840" y="24963120"/>
            <a:ext cx="12527280" cy="7315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595959"/>
                </a:solidFill>
                <a:latin typeface="Calibri"/>
              </a:rPr>
              <a:t>High-risk states (0, 3, 6, 7) concentrate on FAST / GAMING / PURCHASE→FAST.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5361920" y="26380440"/>
            <a:ext cx="13533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5361920" y="26380440"/>
            <a:ext cx="274320" cy="4526280"/>
          </a:xfrm>
          <a:prstGeom prst="rect">
            <a:avLst/>
          </a:prstGeom>
          <a:solidFill>
            <a:srgbClr val="7E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864840" y="2656332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State Topology — 4 High-Risk / 5 Benign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5864840" y="2743200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864840" y="28072080"/>
            <a:ext cx="1234440" cy="1234440"/>
          </a:xfrm>
          <a:prstGeom prst="ellipse">
            <a:avLst/>
          </a:prstGeom>
          <a:solidFill>
            <a:srgbClr val="A6192E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5864840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S0</a:t>
            </a:r>
          </a:p>
        </p:txBody>
      </p:sp>
      <p:sp>
        <p:nvSpPr>
          <p:cNvPr id="107" name="Right Arrow 106"/>
          <p:cNvSpPr/>
          <p:nvPr/>
        </p:nvSpPr>
        <p:spPr>
          <a:xfrm>
            <a:off x="17143571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7276445" y="28072080"/>
            <a:ext cx="1234440" cy="1234440"/>
          </a:xfrm>
          <a:prstGeom prst="ellipse">
            <a:avLst/>
          </a:prstGeom>
          <a:solidFill>
            <a:srgbClr val="1F3A6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7276445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S1</a:t>
            </a:r>
          </a:p>
        </p:txBody>
      </p:sp>
      <p:sp>
        <p:nvSpPr>
          <p:cNvPr id="110" name="Right Arrow 109"/>
          <p:cNvSpPr/>
          <p:nvPr/>
        </p:nvSpPr>
        <p:spPr>
          <a:xfrm>
            <a:off x="18555176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688050" y="28072080"/>
            <a:ext cx="1234440" cy="1234440"/>
          </a:xfrm>
          <a:prstGeom prst="ellipse">
            <a:avLst/>
          </a:prstGeom>
          <a:solidFill>
            <a:srgbClr val="1F3A6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8688050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S2</a:t>
            </a:r>
          </a:p>
        </p:txBody>
      </p:sp>
      <p:sp>
        <p:nvSpPr>
          <p:cNvPr id="113" name="Right Arrow 112"/>
          <p:cNvSpPr/>
          <p:nvPr/>
        </p:nvSpPr>
        <p:spPr>
          <a:xfrm>
            <a:off x="19966781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0099655" y="28072080"/>
            <a:ext cx="1234440" cy="1234440"/>
          </a:xfrm>
          <a:prstGeom prst="ellipse">
            <a:avLst/>
          </a:prstGeom>
          <a:solidFill>
            <a:srgbClr val="A6192E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0099655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S3</a:t>
            </a:r>
          </a:p>
        </p:txBody>
      </p:sp>
      <p:sp>
        <p:nvSpPr>
          <p:cNvPr id="116" name="Right Arrow 115"/>
          <p:cNvSpPr/>
          <p:nvPr/>
        </p:nvSpPr>
        <p:spPr>
          <a:xfrm>
            <a:off x="21378386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21511260" y="28072080"/>
            <a:ext cx="1234440" cy="1234440"/>
          </a:xfrm>
          <a:prstGeom prst="ellipse">
            <a:avLst/>
          </a:prstGeom>
          <a:solidFill>
            <a:srgbClr val="1F3A6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511260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S4</a:t>
            </a:r>
          </a:p>
        </p:txBody>
      </p:sp>
      <p:sp>
        <p:nvSpPr>
          <p:cNvPr id="119" name="Right Arrow 118"/>
          <p:cNvSpPr/>
          <p:nvPr/>
        </p:nvSpPr>
        <p:spPr>
          <a:xfrm>
            <a:off x="22789991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2922865" y="28072080"/>
            <a:ext cx="1234440" cy="1234440"/>
          </a:xfrm>
          <a:prstGeom prst="ellipse">
            <a:avLst/>
          </a:prstGeom>
          <a:solidFill>
            <a:srgbClr val="1F3A6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2922865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S5</a:t>
            </a:r>
          </a:p>
        </p:txBody>
      </p:sp>
      <p:sp>
        <p:nvSpPr>
          <p:cNvPr id="122" name="Right Arrow 121"/>
          <p:cNvSpPr/>
          <p:nvPr/>
        </p:nvSpPr>
        <p:spPr>
          <a:xfrm>
            <a:off x="24201596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4334470" y="28072080"/>
            <a:ext cx="1234440" cy="1234440"/>
          </a:xfrm>
          <a:prstGeom prst="ellipse">
            <a:avLst/>
          </a:prstGeom>
          <a:solidFill>
            <a:srgbClr val="A6192E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334470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S6</a:t>
            </a:r>
          </a:p>
        </p:txBody>
      </p:sp>
      <p:sp>
        <p:nvSpPr>
          <p:cNvPr id="125" name="Right Arrow 124"/>
          <p:cNvSpPr/>
          <p:nvPr/>
        </p:nvSpPr>
        <p:spPr>
          <a:xfrm>
            <a:off x="25613201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5746075" y="28072080"/>
            <a:ext cx="1234440" cy="1234440"/>
          </a:xfrm>
          <a:prstGeom prst="ellipse">
            <a:avLst/>
          </a:prstGeom>
          <a:solidFill>
            <a:srgbClr val="A6192E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5746075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S7</a:t>
            </a:r>
          </a:p>
        </p:txBody>
      </p:sp>
      <p:sp>
        <p:nvSpPr>
          <p:cNvPr id="128" name="Right Arrow 127"/>
          <p:cNvSpPr/>
          <p:nvPr/>
        </p:nvSpPr>
        <p:spPr>
          <a:xfrm>
            <a:off x="27024806" y="28579572"/>
            <a:ext cx="88582" cy="201168"/>
          </a:xfrm>
          <a:prstGeom prst="rightArrow">
            <a:avLst/>
          </a:prstGeom>
          <a:solidFill>
            <a:srgbClr val="B5B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27157680" y="28072080"/>
            <a:ext cx="1234440" cy="1234440"/>
          </a:xfrm>
          <a:prstGeom prst="ellipse">
            <a:avLst/>
          </a:prstGeom>
          <a:solidFill>
            <a:srgbClr val="1F3A68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157680" y="28072080"/>
            <a:ext cx="1234440" cy="123444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5864840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6192E"/>
                </a:solidFill>
                <a:latin typeface="Georgia"/>
              </a:rPr>
              <a:t>FAST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7276445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22447"/>
                </a:solidFill>
                <a:latin typeface="Georgia"/>
              </a:rPr>
              <a:t>NO-FU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688050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22447"/>
                </a:solidFill>
                <a:latin typeface="Georgia"/>
              </a:rPr>
              <a:t>SLOW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0099655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6192E"/>
                </a:solidFill>
                <a:latin typeface="Georgia"/>
              </a:rPr>
              <a:t>GAMING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511260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22447"/>
                </a:solidFill>
                <a:latin typeface="Georgia"/>
              </a:rPr>
              <a:t>NO-FU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2922865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22447"/>
                </a:solidFill>
                <a:latin typeface="Georgia"/>
              </a:rPr>
              <a:t>SLOW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4334470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6192E"/>
                </a:solidFill>
                <a:latin typeface="Georgia"/>
              </a:rPr>
              <a:t>PRCH→F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746075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A6192E"/>
                </a:solidFill>
                <a:latin typeface="Georgia"/>
              </a:rPr>
              <a:t>GATE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157680" y="29352240"/>
            <a:ext cx="1234440" cy="54864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22447"/>
                </a:solidFill>
                <a:latin typeface="Georgia"/>
              </a:rPr>
              <a:t>OTHER</a:t>
            </a:r>
          </a:p>
        </p:txBody>
      </p:sp>
      <p:sp>
        <p:nvSpPr>
          <p:cNvPr id="140" name="Oval 139"/>
          <p:cNvSpPr/>
          <p:nvPr/>
        </p:nvSpPr>
        <p:spPr>
          <a:xfrm>
            <a:off x="17099280" y="30156912"/>
            <a:ext cx="502920" cy="502920"/>
          </a:xfrm>
          <a:prstGeom prst="ellipse">
            <a:avLst/>
          </a:prstGeom>
          <a:solidFill>
            <a:srgbClr val="A6192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7739360" y="30083760"/>
            <a:ext cx="4114800" cy="6400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447"/>
                </a:solidFill>
                <a:latin typeface="Calibri"/>
              </a:rPr>
              <a:t>High-risk state</a:t>
            </a:r>
          </a:p>
        </p:txBody>
      </p:sp>
      <p:sp>
        <p:nvSpPr>
          <p:cNvPr id="142" name="Oval 141"/>
          <p:cNvSpPr/>
          <p:nvPr/>
        </p:nvSpPr>
        <p:spPr>
          <a:xfrm>
            <a:off x="22311360" y="30156912"/>
            <a:ext cx="502920" cy="502920"/>
          </a:xfrm>
          <a:prstGeom prst="ellipse">
            <a:avLst/>
          </a:prstGeom>
          <a:solidFill>
            <a:srgbClr val="1F3A6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2951440" y="30083760"/>
            <a:ext cx="4114800" cy="6400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122447"/>
                </a:solidFill>
                <a:latin typeface="Calibri"/>
              </a:rPr>
              <a:t>Benign / routine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9809440" y="8275320"/>
            <a:ext cx="13533120" cy="7680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9809440" y="8275320"/>
            <a:ext cx="274320" cy="768096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0312360" y="845820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Rule  ∩  HMM — Two Shortlists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312360" y="932688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375600" y="9784080"/>
            <a:ext cx="4754880" cy="4754880"/>
          </a:xfrm>
          <a:prstGeom prst="ellipse">
            <a:avLst/>
          </a:prstGeom>
          <a:solidFill>
            <a:srgbClr val="1F3A6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35021520" y="9784080"/>
            <a:ext cx="4754880" cy="4754880"/>
          </a:xfrm>
          <a:prstGeom prst="ellipse">
            <a:avLst/>
          </a:prstGeom>
          <a:solidFill>
            <a:srgbClr val="A6192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1912560" y="8961120"/>
            <a:ext cx="2926080" cy="64008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22447"/>
                </a:solidFill>
                <a:latin typeface="Georgia"/>
              </a:rPr>
              <a:t>RULES  (R)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8221920" y="8961120"/>
            <a:ext cx="2926080" cy="64008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7E1022"/>
                </a:solidFill>
                <a:latin typeface="Georgia"/>
              </a:rPr>
              <a:t>HMM  (H)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3101280" y="11338560"/>
            <a:ext cx="2011680" cy="16459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10,708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7307520" y="11338560"/>
            <a:ext cx="2011680" cy="164592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88,328</a:t>
            </a:r>
          </a:p>
        </p:txBody>
      </p:sp>
      <p:sp>
        <p:nvSpPr>
          <p:cNvPr id="154" name="Oval 153"/>
          <p:cNvSpPr/>
          <p:nvPr/>
        </p:nvSpPr>
        <p:spPr>
          <a:xfrm>
            <a:off x="35387280" y="11521440"/>
            <a:ext cx="2377440" cy="1280160"/>
          </a:xfrm>
          <a:prstGeom prst="ellipse">
            <a:avLst/>
          </a:prstGeom>
          <a:solidFill>
            <a:srgbClr val="D4A037"/>
          </a:solidFill>
          <a:ln w="25400">
            <a:solidFill>
              <a:srgbClr val="1224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5387280" y="11521440"/>
            <a:ext cx="2377440" cy="12801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22447"/>
                </a:solidFill>
                <a:latin typeface="Georgia"/>
              </a:rPr>
              <a:t>R ∩ H</a:t>
            </a:r>
          </a:p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22447"/>
                </a:solidFill>
                <a:latin typeface="Georgia"/>
              </a:rPr>
              <a:t>100 / 100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0312360" y="14859000"/>
            <a:ext cx="12527280" cy="16459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1">
                <a:solidFill>
                  <a:srgbClr val="595959"/>
                </a:solidFill>
                <a:latin typeface="Calibri"/>
              </a:rPr>
              <a:t>R (rule pool) and H (HMM-only pool) are disjoint by construction; the 100/100 overlap is on the combined top-100 shortlist — evidence the HMM confirms the rules and also surfaces 88K new candidates with zero rule infractions.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29809440" y="16367760"/>
            <a:ext cx="13533120" cy="5852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29809440" y="16367760"/>
            <a:ext cx="274320" cy="585216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0312360" y="1655064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Key Findings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0312360" y="1741932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0312360" y="17876520"/>
            <a:ext cx="4114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A6192E"/>
                </a:solidFill>
                <a:latin typeface="Georgia"/>
              </a:rPr>
              <a:t>1.0000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564320" y="17876520"/>
            <a:ext cx="827532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top posterior dominance (HMM-only shortlist)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0312360" y="18928080"/>
            <a:ext cx="4114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7E1022"/>
                </a:solidFill>
                <a:latin typeface="Georgia"/>
              </a:rPr>
              <a:t>0.9999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4564320" y="18928080"/>
            <a:ext cx="827532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median posterior dominance (top 100 HMM-only)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0312360" y="19979640"/>
            <a:ext cx="4114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2E5593"/>
                </a:solidFill>
                <a:latin typeface="Georgia"/>
              </a:rPr>
              <a:t>74 / 100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4564320" y="19979640"/>
            <a:ext cx="827532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shortlist retention under HMM-heavy weighting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0312360" y="21031200"/>
            <a:ext cx="411480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22447"/>
                </a:solidFill>
                <a:latin typeface="Georgia"/>
              </a:rPr>
              <a:t>Wed · Providence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4564320" y="21031200"/>
            <a:ext cx="8275320" cy="105156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11111"/>
                </a:solidFill>
                <a:latin typeface="Calibri"/>
              </a:rPr>
              <a:t>strongest temporal / geographic concentration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29809440" y="22631400"/>
            <a:ext cx="13533120" cy="45514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9809440" y="22631400"/>
            <a:ext cx="274320" cy="4551426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30312360" y="22814280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Weight Sensitivity (6 Schemes)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0312360" y="23682960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Picture 172" descr="sensitiv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5122" y="24003000"/>
            <a:ext cx="3501755" cy="2996946"/>
          </a:xfrm>
          <a:prstGeom prst="rect">
            <a:avLst/>
          </a:prstGeom>
        </p:spPr>
      </p:pic>
      <p:sp>
        <p:nvSpPr>
          <p:cNvPr id="174" name="Rounded Rectangle 173"/>
          <p:cNvSpPr/>
          <p:nvPr/>
        </p:nvSpPr>
        <p:spPr>
          <a:xfrm>
            <a:off x="29809440" y="27548586"/>
            <a:ext cx="13533120" cy="335813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9809440" y="27548586"/>
            <a:ext cx="274320" cy="3358134"/>
          </a:xfrm>
          <a:prstGeom prst="rect">
            <a:avLst/>
          </a:prstGeom>
          <a:solidFill>
            <a:srgbClr val="7E1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0312360" y="27731466"/>
            <a:ext cx="12847320" cy="868680"/>
          </a:xfrm>
          <a:prstGeom prst="rect">
            <a:avLst/>
          </a:prstGeom>
          <a:noFill/>
        </p:spPr>
        <p:txBody>
          <a:bodyPr wrap="square" tIns="54864" bIns="54864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122447"/>
                </a:solidFill>
                <a:latin typeface="Georgia"/>
              </a:rPr>
              <a:t>Conclusions &amp; Recommendations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30312360" y="28600146"/>
            <a:ext cx="2011680" cy="4572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0312360" y="28874466"/>
            <a:ext cx="12527280" cy="1849374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111111"/>
                </a:solidFill>
                <a:latin typeface="Calibri"/>
              </a:rPr>
              <a:t>Rules catch the obvious cases; the HMM scores every eligible rider on how often their sequence occupies high-risk latent states — a defensible, model-based extension.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111111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7E1022"/>
                </a:solidFill>
                <a:latin typeface="Georgia"/>
              </a:rPr>
              <a:t>↳  Dispatch inspectors to Providence/Stoughton Wed evenings.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7E1022"/>
                </a:solidFill>
                <a:latin typeface="Georgia"/>
              </a:rPr>
              <a:t>↳  Retrain the HMM quarterly on a rolling 4-month window.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7E1022"/>
                </a:solidFill>
                <a:latin typeface="Georgia"/>
              </a:rPr>
              <a:t>↳  Extend activation feed with station_id / line_id for geo features.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0" y="31272480"/>
            <a:ext cx="43891200" cy="1645920"/>
          </a:xfrm>
          <a:prstGeom prst="rect">
            <a:avLst/>
          </a:prstGeom>
          <a:solidFill>
            <a:srgbClr val="122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0" y="32506920"/>
            <a:ext cx="43891200" cy="411480"/>
          </a:xfrm>
          <a:prstGeom prst="rect">
            <a:avLst/>
          </a:prstGeom>
          <a:solidFill>
            <a:srgbClr val="A61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0" y="32415480"/>
            <a:ext cx="43891200" cy="91440"/>
          </a:xfrm>
          <a:prstGeom prst="rect">
            <a:avLst/>
          </a:prstGeom>
          <a:solidFill>
            <a:srgbClr val="D4A0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914400" y="31455360"/>
            <a:ext cx="25603200" cy="64008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037"/>
                </a:solidFill>
                <a:latin typeface="Georgia"/>
              </a:rPr>
              <a:t>ACKNOWLEDGEMENTS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14400" y="32141160"/>
            <a:ext cx="25603200" cy="2743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Charlie Ko (Masabi) and LF Arsenault (Gemsen) for sponsor guidance, data access, and review comments that shaped the HMM-seed sweep, weight-sensitivity analysis, and the symbol-vocabulary design.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28346400" y="31455360"/>
            <a:ext cx="14630400" cy="64008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D4A037"/>
                </a:solidFill>
                <a:latin typeface="Georgia"/>
              </a:rPr>
              <a:t>REPRODUCIBILITY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8346400" y="32141160"/>
            <a:ext cx="14630400" cy="274320"/>
          </a:xfrm>
          <a:prstGeom prst="rect">
            <a:avLst/>
          </a:prstGeom>
          <a:noFill/>
        </p:spPr>
        <p:txBody>
          <a:bodyPr wrap="square" tIns="54864" bIns="54864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Full methodology → UC2_v2_Report.docx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Exact counts, memory, runtimes → RUN_RESULTS.md</a:t>
            </a:r>
          </a:p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Notebooks 01 – 04 run in sequence · deterministic with fixed seeds 0 – 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