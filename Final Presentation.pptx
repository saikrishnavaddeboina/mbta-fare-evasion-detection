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7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8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FF493E-146C-40DE-B093-17472A03923E}" v="1" dt="2026-04-28T15:56:53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Duah" userId="6be56961e6a16d8a" providerId="LiveId" clId="{49512DCD-7794-4EDC-94DE-A43D079DDDEE}"/>
    <pc:docChg chg="custSel addSld modSld">
      <pc:chgData name="Daniel Duah" userId="6be56961e6a16d8a" providerId="LiveId" clId="{49512DCD-7794-4EDC-94DE-A43D079DDDEE}" dt="2026-04-28T15:57:14.184" v="4" actId="478"/>
      <pc:docMkLst>
        <pc:docMk/>
      </pc:docMkLst>
      <pc:sldChg chg="modSp mod">
        <pc:chgData name="Daniel Duah" userId="6be56961e6a16d8a" providerId="LiveId" clId="{49512DCD-7794-4EDC-94DE-A43D079DDDEE}" dt="2026-04-27T21:51:18.467" v="1" actId="1035"/>
        <pc:sldMkLst>
          <pc:docMk/>
          <pc:sldMk cId="0" sldId="270"/>
        </pc:sldMkLst>
        <pc:picChg chg="mod">
          <ac:chgData name="Daniel Duah" userId="6be56961e6a16d8a" providerId="LiveId" clId="{49512DCD-7794-4EDC-94DE-A43D079DDDEE}" dt="2026-04-27T21:51:18.467" v="1" actId="1035"/>
          <ac:picMkLst>
            <pc:docMk/>
            <pc:sldMk cId="0" sldId="270"/>
            <ac:picMk id="6" creationId="{00000000-0000-0000-0000-000000000000}"/>
          </ac:picMkLst>
        </pc:picChg>
      </pc:sldChg>
      <pc:sldChg chg="delSp add mod">
        <pc:chgData name="Daniel Duah" userId="6be56961e6a16d8a" providerId="LiveId" clId="{49512DCD-7794-4EDC-94DE-A43D079DDDEE}" dt="2026-04-28T15:57:14.184" v="4" actId="478"/>
        <pc:sldMkLst>
          <pc:docMk/>
          <pc:sldMk cId="0" sldId="279"/>
        </pc:sldMkLst>
        <pc:spChg chg="del">
          <ac:chgData name="Daniel Duah" userId="6be56961e6a16d8a" providerId="LiveId" clId="{49512DCD-7794-4EDC-94DE-A43D079DDDEE}" dt="2026-04-28T15:57:09.425" v="3" actId="21"/>
          <ac:spMkLst>
            <pc:docMk/>
            <pc:sldMk cId="0" sldId="279"/>
            <ac:spMk id="2" creationId="{00000000-0000-0000-0000-000000000000}"/>
          </ac:spMkLst>
        </pc:spChg>
        <pc:picChg chg="del">
          <ac:chgData name="Daniel Duah" userId="6be56961e6a16d8a" providerId="LiveId" clId="{49512DCD-7794-4EDC-94DE-A43D079DDDEE}" dt="2026-04-28T15:57:14.184" v="4" actId="478"/>
          <ac:picMkLst>
            <pc:docMk/>
            <pc:sldMk cId="0" sldId="279"/>
            <ac:picMk id="26" creationId="{1D6C7ABC-4E3F-4751-90F6-041A3B57B2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69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0015" y="96656"/>
            <a:ext cx="5974572" cy="14512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UC2: Inspector-Triggered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Purchase Fraud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68939" y="1410711"/>
            <a:ext cx="49908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Fare Evasion on MBTA Commuter Rail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63329" y="1776724"/>
            <a:ext cx="4313903" cy="457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54161" y="1776724"/>
            <a:ext cx="37623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WPI Capstone  |  Masabi × Gemsen  |  Team 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48484" y="4716158"/>
            <a:ext cx="9438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D7D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5DF2A4-BAC0-4018-A4EE-87B8DD089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64" y="11384"/>
            <a:ext cx="1341236" cy="107451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712C851F-630E-508E-EFDB-41CDFC8A6218}"/>
              </a:ext>
            </a:extLst>
          </p:cNvPr>
          <p:cNvSpPr/>
          <p:nvPr/>
        </p:nvSpPr>
        <p:spPr>
          <a:xfrm>
            <a:off x="640080" y="3284050"/>
            <a:ext cx="7315200" cy="1450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 2: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Daniel Duah,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Bismark Kofi Sarfo,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Sai Priya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Malyala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Martin Thulani Milanzi,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Sai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krishna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Vaddeboina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508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inspector-triggered fare evasion and why Pattern's rules fall short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pipeline: feature engineering, 9-state HMM, 4-signal anomaly scoring, clustering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15,195 novel riders, 3 evasion archetypes, 6 distinct clusters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389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Masabi, Pattern, and fare revenue recovery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inspector-triggered fare evasion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can't Pattern detect it?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Fare Evasion Works on Commuter Rail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spots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inspector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 the train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40280" y="1691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514600" y="100584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🎫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ticket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instantly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activates held ticket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ticket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0.002 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1691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995160" y="1005840"/>
            <a:ext cx="2011680" cy="2103120"/>
          </a:xfrm>
          <a:prstGeom prst="rect">
            <a:avLst/>
          </a:prstGeom>
          <a:solidFill>
            <a:srgbClr val="F5F7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95160" y="1600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a valid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rider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riders travel without paying, costing transit agencies millions in lost fare revenue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Pattern's Two Detection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uses two count-based rules to flag suspicious riders: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 — HIGH SEVERITY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54,226 riders flagged (24.5%)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activation-to-scan gaps ≤15 seconds within any rolling 10-day (240-hour) window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rider must have at least 3 events where they activated their ticket and were scanned by an inspector within 15 seconds, all occurring within a 10-day period.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73152" cy="146304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 — MEDIUM SEVERITY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55,853 riders flagged (25.2%)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activation-to-scan gaps ≤30 seconds within any rolling 7-day (168-hour) window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wider time gap (30 seconds) but a shorter rolling window (7 days). Catches riders who are slightly slower but still suspiciously fast.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58,752 riders (26.5%) trigger at least one rule  |  Rule windows are non-interchangeable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Pattern's Current Rules Fall Short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flags riders with ≥3 fast activation events in a rolling window. This catches many evaders — but it has three structural blind spots: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Purchase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only measures activation-to-scan gap. It cannot detect riders who buy a ticket the moment they see an inspector — the strongest evasion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2743200" cy="54864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Sequence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scored in isolation. Pattern has no memory of what a rider did yesterday, last week, or across their history. It cannot detect persistent behavioural patterns.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7432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need ≥3 fast events in a window to be flagged. Sophisticated evaders stay at 1-2 fast events per window, making them invisible forever.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build a pipeline that fills these gaps without replacing Pattern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411480"/>
            <a:ext cx="8298180" cy="582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685800"/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research questions that aligns with study purpose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165860"/>
            <a:ext cx="8298180" cy="78867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E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165860"/>
            <a:ext cx="617220" cy="78867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405890"/>
            <a:ext cx="617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65860" y="1289304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Pattern's existing rules leave blind spots?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65860" y="1577340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the population that escapes Rule A (≤15 s) and Rule B (≤30 s) thresholds.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036826"/>
            <a:ext cx="8298180" cy="78867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E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036826"/>
            <a:ext cx="617220" cy="788670"/>
          </a:xfrm>
          <a:prstGeom prst="rect">
            <a:avLst/>
          </a:prstGeom>
          <a:solidFill>
            <a:srgbClr val="B6862C"/>
          </a:solidFill>
          <a:ln w="12700">
            <a:solidFill>
              <a:srgbClr val="B6862C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276856"/>
            <a:ext cx="617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65860" y="2160270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sequence modelling identify evasion archetypes that fixed rules cannot?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65860" y="2448306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HMM latent states correspond to interpretable behavioural strategies.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1480" y="2907792"/>
            <a:ext cx="8298180" cy="78867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E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2907792"/>
            <a:ext cx="617220" cy="78867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3147822"/>
            <a:ext cx="617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65860" y="3031236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anomaly-selected riders separate into operationally distinct groups?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65860" y="3319272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unsupervised clustering on rider-level features to find actionable archetypes.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3778758"/>
            <a:ext cx="8298180" cy="788670"/>
          </a:xfrm>
          <a:prstGeom prst="rect">
            <a:avLst/>
          </a:prstGeom>
          <a:solidFill>
            <a:srgbClr val="F8F9FA"/>
          </a:solidFill>
          <a:ln w="12700">
            <a:solidFill>
              <a:srgbClr val="D5DBE5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3778758"/>
            <a:ext cx="617220" cy="78867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defTabSz="685800"/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4018788"/>
            <a:ext cx="617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800"/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6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65860" y="3902202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smallest reviewable evidence set Masabi can act on?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65860" y="4190238"/>
            <a:ext cx="74752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throughput of the human-in-the-loop labelling step for Exercise 4.</a:t>
            </a:r>
            <a:endParaRPr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98180" y="4869180"/>
            <a:ext cx="4800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685800"/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4869180"/>
            <a:ext cx="2743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800"/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UC2 - Team 2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Did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HMM training,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anomaly scoring, and clustering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Pipeline — End to 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" y="1005840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" y="1005840"/>
            <a:ext cx="1664208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" y="10972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" y="15087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" y="1920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 events from AWS S3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221,382 riders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commuter rail 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1828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01952" y="1005840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01952" y="1005840"/>
            <a:ext cx="1664208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01952" y="10972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01952" y="15087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47672" y="1920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features in 14 groups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gaming, inspector,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GPS, weather, calendar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9584" y="1828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12464" y="1005840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664208" cy="54864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12464" y="10972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12464" y="15087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9-State HMM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184" y="1920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65,376 training riders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stratified sample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evasion archetypes found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0096" y="1828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22976" y="1005840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22976" y="1005840"/>
            <a:ext cx="1664208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22976" y="10972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22976" y="15087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68696" y="1920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weighted signals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221,382 riders scored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0-1 scale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50608" y="182880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333488" y="1005840"/>
            <a:ext cx="1664208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1005840"/>
            <a:ext cx="1664208" cy="54864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33488" y="109728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333488" y="150876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79208" y="1920240"/>
            <a:ext cx="15727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61,869 selected riders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(silhouette-optimised)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distinct profiles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9319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sponsor recommendations implemented: parallel training, FIFO cap 30, MIN_EVENTS=5, posterior dominance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SymetryML  |  Storage: AWS S3  |  Training: 11.4 hours (8 cores, joblib loky)  |  70 HMM fits across 7 state counts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Score Every Rider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rider activate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when an inspector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 the commuter train?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14600" y="914400"/>
            <a:ext cx="201168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the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rider's behavioural sequence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 evasion states?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2011680" cy="54864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activations cluster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16-30 second range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seeing an inspector?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95160" y="91440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95160" y="914400"/>
            <a:ext cx="2011680" cy="54864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9516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995160" y="1691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Pattern already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this rider under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 MEDIUM rules?</a:t>
            </a:r>
            <a:endParaRPr lang="en-US" sz="1000" dirty="0"/>
          </a:p>
        </p:txBody>
      </p:sp>
      <p:pic>
        <p:nvPicPr>
          <p:cNvPr id="23" name="Image 0" descr="/home/claude/imgs/anomaly_scor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85953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HMM Discovered 3 Evasion Archetypes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Habitual Evader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20,075 riders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ACTIVATE_FAST_HANDHELD (75.3%)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Self-transition: 0.984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fast virtually every time.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 this state, only 1.6% chance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leaving on any given event.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Purchase-Triggered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11,920 riders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PURCHASE_THEN_ACTIVATE_FAST (36.7%)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Self-transition: 0.971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834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ticket only when they see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inspector. Pattern has 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purchase-timing logic at all.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Evader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264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20,099 riders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ACTIVATE_FAST_HANDHELD (46.3%)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Self-transition: 0.973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834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Alternates fast and slow activations.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below Pattern's ≥3 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mixing behaviour.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Self-transitions &gt; 0.97 mean evasion is habitual, not situational — riders who evade once will almost certainly evade again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8A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Found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15,195 riders Pattern misses, 6 clusters,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20.5% novelty rate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15,195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that Pattern's rules completely miss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60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Rule A or Rule B — verified, not estimated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3108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suspicious_state_pct — 78% of sequence in evasion states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fast-15s events — just below Pattern's ≥3 threshold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2062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rate — exceeds the 20% sponsor benchmark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HMM Novelty — Where Pattern Falls Short</a:t>
            </a:r>
            <a:endParaRPr lang="en-US" sz="2800" dirty="0"/>
          </a:p>
        </p:txBody>
      </p:sp>
      <p:pic>
        <p:nvPicPr>
          <p:cNvPr id="3" name="Image 0" descr="/home/claude/imgs/hmm_novelty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22960"/>
            <a:ext cx="877824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246120"/>
            <a:ext cx="201168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743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40,151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HMM + Rules (18.1%)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3246120"/>
            <a:ext cx="201168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1460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5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18,601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5146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only (8.4%)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3246120"/>
            <a:ext cx="201168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15,195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5488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only (novel) (6.9%)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95160" y="3246120"/>
            <a:ext cx="2011680" cy="9144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9516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A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147,435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9516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(66.6%)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of novel riders come from Cluster 1 — predominantly State 3 (Moderate, 52.9%) and State 0 (Purchase-Triggered, 28.2%)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Evasion Clusters — Who Are These Riders?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64008" cy="178308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Rule-Flagged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7,136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0.416  |  Rule A: 58.9%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evasion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64008" cy="1783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868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HMM-Novel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0.331  |  Rule A: 3.1%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 are novel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64008" cy="1783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868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0" y="914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0.585  |  Rule A: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fast events avg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64008" cy="178308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Evader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22,199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0.534  |  Rule A: 97.6%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8346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64008" cy="178308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HMM-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8,644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0.399  |  Rule A: 92.2%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3756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false pos.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2834640"/>
            <a:ext cx="64008" cy="1783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6364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Inspector-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63640" y="3657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0.365  |  Rule A: 0.1%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1.639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Profiles &amp; UMAP Visualisation</a:t>
            </a:r>
            <a:endParaRPr lang="en-US" sz="2800" dirty="0"/>
          </a:p>
        </p:txBody>
      </p:sp>
      <p:pic>
        <p:nvPicPr>
          <p:cNvPr id="3" name="Image 0" descr="/home/claude/imgs/cluster_profil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572000" cy="2286000"/>
          </a:xfrm>
          <a:prstGeom prst="rect">
            <a:avLst/>
          </a:prstGeom>
        </p:spPr>
      </p:pic>
      <p:pic>
        <p:nvPicPr>
          <p:cNvPr id="4" name="Image 1" descr="/home/claude/imgs/umap_anomaly_clust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777240"/>
            <a:ext cx="4114800" cy="2286000"/>
          </a:xfrm>
          <a:prstGeom prst="rect">
            <a:avLst/>
          </a:prstGeom>
        </p:spPr>
      </p:pic>
      <p:pic>
        <p:nvPicPr>
          <p:cNvPr id="5" name="Image 2" descr="/home/claude/imgs/umap_anomaly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154680"/>
            <a:ext cx="4389120" cy="1828800"/>
          </a:xfrm>
          <a:prstGeom prst="rect">
            <a:avLst/>
          </a:prstGeom>
        </p:spPr>
      </p:pic>
      <p:pic>
        <p:nvPicPr>
          <p:cNvPr id="6" name="Image 3" descr="/home/claude/imgs/umap_hmm_sta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140612"/>
            <a:ext cx="42062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69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EF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Masabi, Pattern,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EF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fare revenue recovery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Implications for Masabi/</a:t>
            </a:r>
            <a:r>
              <a:rPr lang="en-US" sz="2800" b="1" dirty="0" err="1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Gemsen</a:t>
            </a: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on the Pattern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64008" cy="173736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15,195 riders = lost revenue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riders travel without paying and have never been detected. Each rider represents lost fare revenue on every trip. Across thousands of trips over months, this is a significant revenue gap.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64008" cy="173736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can be extended, not replaced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doesn't make Pattern obsolete — it adds three capabilities Pattern lacks. Pattern's rules remain 20% of the composite score and provide strong baseline confirmation.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64008" cy="173736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Cluster-specific enforcement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clusters need different responses. Cluster 2 needs immediate enforcement. Cluster 1 needs Masabi validation. Cluster 5 reveals a new evasion behaviour Pattern should monitor.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64008" cy="173736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reduction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4 (8,644 riders) may be false positives — 92% rule-flagged but HMM sees as non-suspicious. Pattern may be over-flagging this population, wasting inspector resources on legitimate riders.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Actions by Cluster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64008" cy="59436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8229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822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8229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Highest-risk. Deploy targeted inspection on high-density routes.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64008" cy="59436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4813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22,199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148132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48132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via Masabi review sheet, then apply to full group.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39696"/>
            <a:ext cx="85953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64008" cy="594360"/>
          </a:xfrm>
          <a:prstGeom prst="rect">
            <a:avLst/>
          </a:prstGeom>
          <a:solidFill>
            <a:srgbClr val="D69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13969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139696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7,136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213969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ENFORCEMENT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21396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inspectors on peak-hour commuter trains.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798064"/>
            <a:ext cx="64008" cy="59436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79806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79806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27980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MASABI REVIEW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279806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 novel. Must validate if genuine evaders or false positives.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56432"/>
            <a:ext cx="8595360" cy="59436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456432"/>
            <a:ext cx="64008" cy="594360"/>
          </a:xfrm>
          <a:prstGeom prst="rect">
            <a:avLst/>
          </a:pr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45643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4564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8,644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03120" y="3456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FPs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0" y="345643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Rule-flagged but HMM non-suspicious. May be over-flagging.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114800"/>
            <a:ext cx="85953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64008" cy="5943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1148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03120" y="4114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23360" y="4114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Inspector-reactive activators. Invisible to Pattern.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2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 2  |  WPI Capstone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5D7D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Masabi × Gemsen  |  SymetryML Platform  |  April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1E676F-A80D-4C96-9862-8E20881B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64" y="11384"/>
            <a:ext cx="1341236" cy="1074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1475</Words>
  <Application>Microsoft Office PowerPoint</Application>
  <PresentationFormat>On-screen Show (16:9)</PresentationFormat>
  <Paragraphs>305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UC2: Inspector-Triggered Fraud Detection</dc:title>
  <dc:subject>PptxGenJS Presentation</dc:subject>
  <dc:creator>Daniel Duah — Team 2</dc:creator>
  <cp:lastModifiedBy>Daniel Duah</cp:lastModifiedBy>
  <cp:revision>3</cp:revision>
  <dcterms:created xsi:type="dcterms:W3CDTF">2026-04-26T20:00:21Z</dcterms:created>
  <dcterms:modified xsi:type="dcterms:W3CDTF">2026-04-28T15:57:20Z</dcterms:modified>
</cp:coreProperties>
</file>